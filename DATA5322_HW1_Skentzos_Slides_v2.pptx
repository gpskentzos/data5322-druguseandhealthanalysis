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7" r:id="rId5"/>
    <p:sldId id="259" r:id="rId6"/>
    <p:sldId id="260" r:id="rId7"/>
    <p:sldId id="261" r:id="rId8"/>
    <p:sldId id="262" r:id="rId9"/>
    <p:sldId id="266" r:id="rId10"/>
    <p:sldId id="263" r:id="rId11"/>
    <p:sldId id="264" r:id="rId12"/>
    <p:sldId id="265"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23"/>
    <p:restoredTop sz="85319"/>
  </p:normalViewPr>
  <p:slideViewPr>
    <p:cSldViewPr snapToGrid="0" snapToObjects="1">
      <p:cViewPr varScale="1">
        <p:scale>
          <a:sx n="120" d="100"/>
          <a:sy n="120" d="100"/>
        </p:scale>
        <p:origin x="1928" y="46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96" d="100"/>
          <a:sy n="96" d="100"/>
        </p:scale>
        <p:origin x="4848"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7144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Today I'm presenting my DATA 5322 Practical Homework 1 analysis of the NSDUH youth survey using tree-based machine learning. I framed the problem three ways: binary classification to predict whether a youth ever used alcohol, multi-class to predict marijuana frequency category, and regression to predict actual days per year of alcohol use. I'll cover data preparation, theory, results, and close with what I think are two genuinely important methodological insights, one about ROC curves, and one about a surprising regression result.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preprocessed NSDUH youth cohort, after restricting to respondents under 18, we have </a:t>
            </a:r>
            <a:r>
              <a:rPr lang="en-US" sz="1200" b="0" dirty="0">
                <a:solidFill>
                  <a:srgbClr val="1E2761"/>
                </a:solidFill>
                <a:latin typeface="Georgia" pitchFamily="34" charset="0"/>
                <a:ea typeface="Georgia" pitchFamily="34" charset="-122"/>
                <a:cs typeface="Georgia" pitchFamily="34" charset="-120"/>
              </a:rPr>
              <a:t>10,561</a:t>
            </a:r>
            <a:r>
              <a:rPr lang="en-US" dirty="0"/>
              <a:t> records. I selected 47 predictor variables covering youth experience categories: school attitude, peer relationships and attitudes, parental behavior, household environment, and self-reported risk behaviors. Before any modeling I performed a leakage audit, variables that are logically downstream of substance use, like treatment history or reported consequences, were explicitly excluded. This is important for validity: we want the models to predict risk factors, not consequences. All hyperparameter tuning was done inside 5-fold GridSearchCV on the training set, with the test set held out entirely until final evaluation.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model classes appear in the homework. The decision tree is the interpretable baseline, it recursively partitions the feature space to minimize Gini impurity, but it overfits easily and is a high-variance learner. Random forests correct this by building many trees on bootstrap samples with random feature subsets, then averaging predictions, the decorrelation is what makes averaging effective. AdaBoost takes a different boosting approach: it sequentially reweights training examples so later learners focus on harder cases. Gradient boosting extends this by fitting each new tree to the residuals of the current ensemble, which is why it tends to be the strongest but slowest method. Finally, the Bagging Regressor applies bootstrap aggregation for the regression task. Throughout, I used 5-fold GridSearchCV to tune hyperparameters on training data only, and I used class_weight='balanced' for the classification tasks given the imbalanced targets.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binary classification, predicting whether a youth ever used alcohol, both ensemble methods outperform the single decision tree on accuracy, which is expected. But look more carefully at the table: AdaBoost has the highest accuracy at 0.817, yet Random Forest has the higher ROC AUC at 0.795. Those two metrics are measuring genuinely different things, and the fact that they disagree is one of the most important methodological observations in this analysis. I'll unpack that fully on the next slide.
The three curves plus the diagonal baseline illustrate the ranking differences visually.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want you to take away. The ROC curve plots True Positive Rate on the y-axis against False Positive Rate on the x-axis as we sweep the classification threshold from 0 to 1. The area under that curve , AUC, summarizes discriminative ability across the entire operating range. The dotted diagonal represents a random classifier with AUC of 0.5, the further a curve bows toward the upper-left corner, the better the model.
What is happening with AdaBoost? At the default threshold of 0.5, it is very aggressively predicting the majority class, youth who used alcohol, which inflates accuracy. But across other thresholds its advantage disappears, and its AUC is lower than Random Forest's. Random Forest has better-calibrated probability estimates across the full range.
Why does this matter for public health? If you were deploying this model to screen youth for intervention programs, you almost certainly would not use the default 0.5 cut. You would shift the threshold depending on the relative cost of a false positive, an unnecessary intervention, versus a false negative, a missed at-risk youth. AUC tells you how much room you have to make that adjustment. This is the correct metric to optimize for this application, not accuracy.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multi-class problem, I predicted three marijuana frequency categories. This is a severely imbalanced classification problem, the never-used class vastly outnumbers occasional and frequent users. Gradient boosting dominates the decision tree on both accuracy and macro F1. I want to specifically address the choice of macro-averaged F1: I used it because it treats each class equally regardless of how many samples it has. Weighted F1 would reward models that just nail the majority class, which is not what we want when the rare frequent-use category is arguably the most important to catch. The confusion matrices show this directly, the single decision tree essentially predicts never-used for almost all cases, while gradient boosting recovers more structure in the minority classes despite the imbalance.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regression task, predicting actual days per year of alcohol use, Bagging is the best performer with the lowest RMSE of 17.59 and highest R² of 0.120. I want to be explicit: gradient boosting underperforms bagging here. That is the result the executed notebook produces, and it is worth saying plainly rather than glossing over. One plausible explanation is that gradient boosting's stage-wise residual fitting is less well suited to a distribution dominated by a zero mass, bagging's simple variance reduction handles that distributional quirk better. The R² values around 0.07 to 0.12 are low in absolute terms, but they are not surprising. The target variable is severely zero-inflated, the majority of youth in this sample reported zero days, and survey self-report adds substantial noise. The predicted-versus-actual scatter plots visualize this: you can see the models identifying the upward trend while struggling with the spike at zero.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AD6F6-1691-FAAE-7E14-A91E076AC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7E7517-71BC-0425-B110-1C06D9B275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ADCADE-2748-296C-72EB-785BB865FAFB}"/>
              </a:ext>
            </a:extLst>
          </p:cNvPr>
          <p:cNvSpPr>
            <a:spLocks noGrp="1"/>
          </p:cNvSpPr>
          <p:nvPr>
            <p:ph type="body" idx="1"/>
          </p:nvPr>
        </p:nvSpPr>
        <p:spPr/>
        <p:txBody>
          <a:bodyPr/>
          <a:lstStyle/>
          <a:p>
            <a:r>
              <a:rPr lang="en-US" dirty="0"/>
              <a:t>The assignment specifically rewards going beyond just predictive metrics, and I included three interpretability analyses. First, the image on the left produces a tree visualization paired side-by-side with a feature importance table, this shows which features drive splits and quantifies their relative contribution. The dominant feature across all encodings is STNDALC: peer disapproval of alcohol. Second, the middle image traces a decision path for a specific test-set observation, I selected a youth predicted as ever-used and walked through every branch split from root to leaf, labeling threshold and direction. This gives a human-readable explanation of one prediction. Third, the image on the left produces the encoding comparison: the same underlying behavior coded as binary, ordinal, and numerical leads to different feature importance profiles. The practical takeaway is that binary encoding gives the cleanest splits but loses the distinction between occasional and chronic use, a distinction that is very important for policy design.</a:t>
            </a:r>
          </a:p>
        </p:txBody>
      </p:sp>
      <p:sp>
        <p:nvSpPr>
          <p:cNvPr id="4" name="Slide Number Placeholder 3">
            <a:extLst>
              <a:ext uri="{FF2B5EF4-FFF2-40B4-BE49-F238E27FC236}">
                <a16:creationId xmlns:a16="http://schemas.microsoft.com/office/drawing/2014/main" id="{DD0C2D07-1F62-9E1B-5426-310432BDB8E8}"/>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209720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specifically rewards going beyond just predictive metrics, and I included three interpretability analyses. First, the image on the left produces a tree visualization paired side-by-side with a feature importance table, this shows which features drive splits and quantifies their relative contribution. The dominant feature across all encodings is </a:t>
            </a:r>
            <a:r>
              <a:rPr lang="en-US" sz="1200" b="0" dirty="0">
                <a:solidFill>
                  <a:srgbClr val="1E2761"/>
                </a:solidFill>
                <a:latin typeface="Georgia" pitchFamily="34" charset="0"/>
                <a:ea typeface="Georgia" pitchFamily="34" charset="-122"/>
                <a:cs typeface="Georgia" pitchFamily="34" charset="-120"/>
              </a:rPr>
              <a:t>FRDMJMON</a:t>
            </a:r>
            <a:r>
              <a:rPr lang="en-US"/>
              <a:t>: Friends' monthly MJ use. </a:t>
            </a:r>
            <a:r>
              <a:rPr lang="en-US" dirty="0"/>
              <a:t>Second, the middle image traces a decision path for a specific test-set observation, I selected a youth predicted as ever-used and walked through every branch split from root to leaf, labeling threshold and direction. This gives a human-readable explanation of one prediction. Third, the image on the left produces the encoding comparison: the same underlying behavior coded as binary, ordinal, and numerical leads to different feature importance profiles. The practical takeaway is that binary encoding gives the cleanest splits but loses the distinction between occasional and chronic use, a distinction that is very important for policy design.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back from the numbers to interpretation. The central finding is that social context variables, especially peer attitudes toward alcohol, dominate predictive power far more than demographic features. For public health this is meaningful: intervention strategies targeting peer norms may be more effective than demographic-targeted approaches. However, I want to be careful about the causal language here. These are associative findings from observational survey data. A variable being important in a tree does not mean intervening on it will change the outcome, we have not estimated any causal effect. The NSDUH data is self-reported, introducing recall and social desirability bias. Class imbalance limits how precisely we can predict the rare frequent-use categories. And ethically, several of the top predictors involve parental behavior, real deployment of a model that flags youth based on their parents' substance use would require serious fairness analysis and stakeholder engagement before it could be responsibly used.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five takeaways. First, tree-based ensembles consistently outperformed single decision trees, confirming the core theoretical prediction that variance reduction through averaging or boosting improves generalization. Second, accuracy and AUC measure </a:t>
            </a:r>
            <a:r>
              <a:rPr lang="en-US"/>
              <a:t>different things, for </a:t>
            </a:r>
            <a:r>
              <a:rPr lang="en-US" dirty="0"/>
              <a:t>a public health screening problem where the operating threshold is a design choice, AUC is the metric that matters. Third, the regression result was a genuine surprise: bagging outperformed gradient boosting, and I reported it as such rather than glossing over it. Fourth, peer social norms emerged as the dominant predictor throughout, which has concrete implications for intervention program design. And fifth, all of these findings are correlational, responsible use of models like this requires far more work before deployment. 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4114800" cy="109728"/>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640080" y="914400"/>
            <a:ext cx="7863840" cy="173736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Predicting Youth Drug Use</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with Tree-Based Machine Learning</a:t>
            </a:r>
            <a:endParaRPr lang="en-US" sz="3600" dirty="0"/>
          </a:p>
        </p:txBody>
      </p:sp>
      <p:sp>
        <p:nvSpPr>
          <p:cNvPr id="4" name="Text 2"/>
          <p:cNvSpPr/>
          <p:nvPr/>
        </p:nvSpPr>
        <p:spPr>
          <a:xfrm>
            <a:off x="640080" y="2788920"/>
            <a:ext cx="7863840" cy="77724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Decision Trees  ·  Random Forests  ·  Boosting  ·  Regression</a:t>
            </a:r>
            <a:endParaRPr lang="en-US" sz="1500" dirty="0"/>
          </a:p>
          <a:p>
            <a:pPr marL="0" indent="0">
              <a:buNone/>
            </a:pPr>
            <a:r>
              <a:rPr lang="en-US" sz="1500" i="1" dirty="0">
                <a:solidFill>
                  <a:srgbClr val="CADCFC"/>
                </a:solidFill>
                <a:latin typeface="Calibri" pitchFamily="34" charset="0"/>
                <a:ea typeface="Calibri" pitchFamily="34" charset="-122"/>
                <a:cs typeface="Calibri" pitchFamily="34" charset="-120"/>
              </a:rPr>
              <a:t>NSDUH Youth Survey  |  DATA 5322 – Practical Homework 1</a:t>
            </a:r>
            <a:endParaRPr lang="en-US" sz="1500" dirty="0"/>
          </a:p>
        </p:txBody>
      </p:sp>
      <p:sp>
        <p:nvSpPr>
          <p:cNvPr id="5" name="Text 3"/>
          <p:cNvSpPr/>
          <p:nvPr/>
        </p:nvSpPr>
        <p:spPr>
          <a:xfrm>
            <a:off x="640080" y="3931920"/>
            <a:ext cx="7863840" cy="347472"/>
          </a:xfrm>
          <a:prstGeom prst="rect">
            <a:avLst/>
          </a:prstGeom>
          <a:noFill/>
          <a:ln/>
        </p:spPr>
        <p:txBody>
          <a:bodyPr wrap="square" rtlCol="0" anchor="ctr"/>
          <a:lstStyle/>
          <a:p>
            <a:pPr marL="0" indent="0">
              <a:buNone/>
            </a:pPr>
            <a:r>
              <a:rPr lang="en-US" sz="1200" dirty="0">
                <a:solidFill>
                  <a:srgbClr val="9EB3D8"/>
                </a:solidFill>
                <a:latin typeface="Calibri" pitchFamily="34" charset="0"/>
                <a:ea typeface="Calibri" pitchFamily="34" charset="-122"/>
                <a:cs typeface="Calibri" pitchFamily="34" charset="-120"/>
              </a:rPr>
              <a:t>Paul Skentzos  |  Statistical Machine Learning II  |  Seattle University</a:t>
            </a:r>
            <a:endParaRPr lang="en-US" sz="1200" dirty="0"/>
          </a:p>
        </p:txBody>
      </p:sp>
      <p:sp>
        <p:nvSpPr>
          <p:cNvPr id="6" name="Shape 4"/>
          <p:cNvSpPr/>
          <p:nvPr/>
        </p:nvSpPr>
        <p:spPr>
          <a:xfrm>
            <a:off x="0" y="4869180"/>
            <a:ext cx="9144000" cy="274320"/>
          </a:xfrm>
          <a:prstGeom prst="rect">
            <a:avLst/>
          </a:prstGeom>
          <a:solidFill>
            <a:srgbClr val="E8A838"/>
          </a:solidFill>
          <a:ln w="12700">
            <a:solidFill>
              <a:srgbClr val="E8A838"/>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Research Questions &amp; Dataset</a:t>
            </a:r>
            <a:endParaRPr lang="en-US" sz="2600" dirty="0"/>
          </a:p>
        </p:txBody>
      </p:sp>
      <p:sp>
        <p:nvSpPr>
          <p:cNvPr id="4" name="Text 2"/>
          <p:cNvSpPr/>
          <p:nvPr/>
        </p:nvSpPr>
        <p:spPr>
          <a:xfrm>
            <a:off x="502920" y="621792"/>
            <a:ext cx="8138160" cy="237744"/>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National Survey on Drug Use and Health (NSDUH) — youth respondents under 18</a:t>
            </a:r>
            <a:endParaRPr lang="en-US" sz="1150" dirty="0"/>
          </a:p>
        </p:txBody>
      </p:sp>
      <p:sp>
        <p:nvSpPr>
          <p:cNvPr id="5" name="Shape 3"/>
          <p:cNvSpPr/>
          <p:nvPr/>
        </p:nvSpPr>
        <p:spPr>
          <a:xfrm>
            <a:off x="411480" y="914400"/>
            <a:ext cx="4846320" cy="105156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6" name="Shape 4"/>
          <p:cNvSpPr/>
          <p:nvPr/>
        </p:nvSpPr>
        <p:spPr>
          <a:xfrm>
            <a:off x="411480" y="914400"/>
            <a:ext cx="201168" cy="1051560"/>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685800" y="987552"/>
            <a:ext cx="4480560" cy="256032"/>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Binary</a:t>
            </a:r>
            <a:endParaRPr lang="en-US" sz="1100" dirty="0"/>
          </a:p>
        </p:txBody>
      </p:sp>
      <p:sp>
        <p:nvSpPr>
          <p:cNvPr id="8" name="Text 6"/>
          <p:cNvSpPr/>
          <p:nvPr/>
        </p:nvSpPr>
        <p:spPr>
          <a:xfrm>
            <a:off x="685800" y="1261872"/>
            <a:ext cx="4480560" cy="347472"/>
          </a:xfrm>
          <a:prstGeom prst="rect">
            <a:avLst/>
          </a:prstGeom>
          <a:noFill/>
          <a:ln/>
        </p:spPr>
        <p:txBody>
          <a:bodyPr wrap="square" lIns="0" tIns="0" rIns="0" bIns="0" rtlCol="0" anchor="ctr"/>
          <a:lstStyle/>
          <a:p>
            <a:pPr marL="0" indent="0">
              <a:buNone/>
            </a:pPr>
            <a:r>
              <a:rPr lang="en-US" sz="1300" dirty="0">
                <a:solidFill>
                  <a:srgbClr val="2D3142"/>
                </a:solidFill>
                <a:latin typeface="Calibri" pitchFamily="34" charset="0"/>
                <a:ea typeface="Calibri" pitchFamily="34" charset="-122"/>
                <a:cs typeface="Calibri" pitchFamily="34" charset="-120"/>
              </a:rPr>
              <a:t>Did this youth ever use alcohol?</a:t>
            </a:r>
            <a:endParaRPr lang="en-US" sz="1300" dirty="0"/>
          </a:p>
        </p:txBody>
      </p:sp>
      <p:sp>
        <p:nvSpPr>
          <p:cNvPr id="9" name="Text 7"/>
          <p:cNvSpPr/>
          <p:nvPr/>
        </p:nvSpPr>
        <p:spPr>
          <a:xfrm>
            <a:off x="685800" y="1664208"/>
            <a:ext cx="4480560" cy="219456"/>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Metric: Accuracy + ROC AUC</a:t>
            </a:r>
            <a:endParaRPr lang="en-US" sz="1000" dirty="0"/>
          </a:p>
        </p:txBody>
      </p:sp>
      <p:sp>
        <p:nvSpPr>
          <p:cNvPr id="10" name="Shape 8"/>
          <p:cNvSpPr/>
          <p:nvPr/>
        </p:nvSpPr>
        <p:spPr>
          <a:xfrm>
            <a:off x="411480" y="2148840"/>
            <a:ext cx="4846320" cy="105156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11" name="Shape 9"/>
          <p:cNvSpPr/>
          <p:nvPr/>
        </p:nvSpPr>
        <p:spPr>
          <a:xfrm>
            <a:off x="411480" y="2148840"/>
            <a:ext cx="201168" cy="1051560"/>
          </a:xfrm>
          <a:prstGeom prst="rect">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685800" y="2221992"/>
            <a:ext cx="4480560" cy="256032"/>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Multi-class</a:t>
            </a:r>
            <a:endParaRPr lang="en-US" sz="1100" dirty="0"/>
          </a:p>
        </p:txBody>
      </p:sp>
      <p:sp>
        <p:nvSpPr>
          <p:cNvPr id="13" name="Text 11"/>
          <p:cNvSpPr/>
          <p:nvPr/>
        </p:nvSpPr>
        <p:spPr>
          <a:xfrm>
            <a:off x="685800" y="2496312"/>
            <a:ext cx="4480560" cy="347472"/>
          </a:xfrm>
          <a:prstGeom prst="rect">
            <a:avLst/>
          </a:prstGeom>
          <a:noFill/>
          <a:ln/>
        </p:spPr>
        <p:txBody>
          <a:bodyPr wrap="square" lIns="0" tIns="0" rIns="0" bIns="0" rtlCol="0" anchor="ctr"/>
          <a:lstStyle/>
          <a:p>
            <a:pPr marL="0" indent="0">
              <a:buNone/>
            </a:pPr>
            <a:r>
              <a:rPr lang="en-US" sz="1300" dirty="0">
                <a:solidFill>
                  <a:srgbClr val="2D3142"/>
                </a:solidFill>
                <a:latin typeface="Calibri" pitchFamily="34" charset="0"/>
                <a:ea typeface="Calibri" pitchFamily="34" charset="-122"/>
                <a:cs typeface="Calibri" pitchFamily="34" charset="-120"/>
              </a:rPr>
              <a:t>What is their marijuana use frequency?</a:t>
            </a:r>
            <a:endParaRPr lang="en-US" sz="1300" dirty="0"/>
          </a:p>
        </p:txBody>
      </p:sp>
      <p:sp>
        <p:nvSpPr>
          <p:cNvPr id="14" name="Text 12"/>
          <p:cNvSpPr/>
          <p:nvPr/>
        </p:nvSpPr>
        <p:spPr>
          <a:xfrm>
            <a:off x="685800" y="2898648"/>
            <a:ext cx="4480560" cy="219456"/>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Metric: Macro F1 + Accuracy</a:t>
            </a:r>
            <a:endParaRPr lang="en-US" sz="1000" dirty="0"/>
          </a:p>
        </p:txBody>
      </p:sp>
      <p:sp>
        <p:nvSpPr>
          <p:cNvPr id="15" name="Shape 13"/>
          <p:cNvSpPr/>
          <p:nvPr/>
        </p:nvSpPr>
        <p:spPr>
          <a:xfrm>
            <a:off x="411480" y="3383280"/>
            <a:ext cx="4846320" cy="105156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16" name="Shape 14"/>
          <p:cNvSpPr/>
          <p:nvPr/>
        </p:nvSpPr>
        <p:spPr>
          <a:xfrm>
            <a:off x="411480" y="3383280"/>
            <a:ext cx="201168" cy="1051560"/>
          </a:xfrm>
          <a:prstGeom prst="rect">
            <a:avLst/>
          </a:prstGeom>
          <a:solidFill>
            <a:srgbClr val="7C3AED"/>
          </a:solidFill>
          <a:ln w="12700">
            <a:solidFill>
              <a:srgbClr val="7C3AED"/>
            </a:solidFill>
            <a:prstDash val="solid"/>
          </a:ln>
        </p:spPr>
        <p:txBody>
          <a:bodyPr/>
          <a:lstStyle/>
          <a:p>
            <a:endParaRPr lang="en-US"/>
          </a:p>
        </p:txBody>
      </p:sp>
      <p:sp>
        <p:nvSpPr>
          <p:cNvPr id="17" name="Text 15"/>
          <p:cNvSpPr/>
          <p:nvPr/>
        </p:nvSpPr>
        <p:spPr>
          <a:xfrm>
            <a:off x="685800" y="3456432"/>
            <a:ext cx="4480560" cy="256032"/>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Regression</a:t>
            </a:r>
            <a:endParaRPr lang="en-US" sz="1100" dirty="0"/>
          </a:p>
        </p:txBody>
      </p:sp>
      <p:sp>
        <p:nvSpPr>
          <p:cNvPr id="18" name="Text 16"/>
          <p:cNvSpPr/>
          <p:nvPr/>
        </p:nvSpPr>
        <p:spPr>
          <a:xfrm>
            <a:off x="685800" y="3730752"/>
            <a:ext cx="4480560" cy="347472"/>
          </a:xfrm>
          <a:prstGeom prst="rect">
            <a:avLst/>
          </a:prstGeom>
          <a:noFill/>
          <a:ln/>
        </p:spPr>
        <p:txBody>
          <a:bodyPr wrap="square" lIns="0" tIns="0" rIns="0" bIns="0" rtlCol="0" anchor="ctr"/>
          <a:lstStyle/>
          <a:p>
            <a:pPr marL="0" indent="0">
              <a:buNone/>
            </a:pPr>
            <a:r>
              <a:rPr lang="en-US" sz="1300" dirty="0">
                <a:solidFill>
                  <a:srgbClr val="2D3142"/>
                </a:solidFill>
                <a:latin typeface="Calibri" pitchFamily="34" charset="0"/>
                <a:ea typeface="Calibri" pitchFamily="34" charset="-122"/>
                <a:cs typeface="Calibri" pitchFamily="34" charset="-120"/>
              </a:rPr>
              <a:t>How many days/year do they drink alcohol?</a:t>
            </a:r>
            <a:endParaRPr lang="en-US" sz="1300" dirty="0"/>
          </a:p>
        </p:txBody>
      </p:sp>
      <p:sp>
        <p:nvSpPr>
          <p:cNvPr id="19" name="Text 17"/>
          <p:cNvSpPr/>
          <p:nvPr/>
        </p:nvSpPr>
        <p:spPr>
          <a:xfrm>
            <a:off x="685800" y="4133088"/>
            <a:ext cx="4480560" cy="219456"/>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Metric: RMSE + R²</a:t>
            </a:r>
            <a:endParaRPr lang="en-US" sz="1000" dirty="0"/>
          </a:p>
        </p:txBody>
      </p:sp>
      <p:sp>
        <p:nvSpPr>
          <p:cNvPr id="20" name="Shape 18"/>
          <p:cNvSpPr/>
          <p:nvPr/>
        </p:nvSpPr>
        <p:spPr>
          <a:xfrm>
            <a:off x="5577840" y="932688"/>
            <a:ext cx="1508760" cy="1170432"/>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21" name="Text 19"/>
          <p:cNvSpPr/>
          <p:nvPr/>
        </p:nvSpPr>
        <p:spPr>
          <a:xfrm>
            <a:off x="5577840" y="1060704"/>
            <a:ext cx="150876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Georgia" pitchFamily="34" charset="0"/>
                <a:ea typeface="Georgia" pitchFamily="34" charset="-122"/>
                <a:cs typeface="Georgia" pitchFamily="34" charset="-120"/>
              </a:rPr>
              <a:t>10,561</a:t>
            </a:r>
            <a:endParaRPr lang="en-US" sz="2600" dirty="0"/>
          </a:p>
        </p:txBody>
      </p:sp>
      <p:sp>
        <p:nvSpPr>
          <p:cNvPr id="22" name="Text 20"/>
          <p:cNvSpPr/>
          <p:nvPr/>
        </p:nvSpPr>
        <p:spPr>
          <a:xfrm>
            <a:off x="5650992" y="1591056"/>
            <a:ext cx="1371600" cy="420624"/>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youth respondents</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(under 18 filter)</a:t>
            </a:r>
            <a:endParaRPr lang="en-US" sz="950" dirty="0"/>
          </a:p>
        </p:txBody>
      </p:sp>
      <p:sp>
        <p:nvSpPr>
          <p:cNvPr id="23" name="Shape 21"/>
          <p:cNvSpPr/>
          <p:nvPr/>
        </p:nvSpPr>
        <p:spPr>
          <a:xfrm>
            <a:off x="7269480" y="932688"/>
            <a:ext cx="1508760" cy="1170432"/>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24" name="Text 22"/>
          <p:cNvSpPr/>
          <p:nvPr/>
        </p:nvSpPr>
        <p:spPr>
          <a:xfrm>
            <a:off x="7269480" y="1060704"/>
            <a:ext cx="150876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Georgia" pitchFamily="34" charset="0"/>
                <a:ea typeface="Georgia" pitchFamily="34" charset="-122"/>
                <a:cs typeface="Georgia" pitchFamily="34" charset="-120"/>
              </a:rPr>
              <a:t>47</a:t>
            </a:r>
            <a:endParaRPr lang="en-US" sz="2600" dirty="0"/>
          </a:p>
        </p:txBody>
      </p:sp>
      <p:sp>
        <p:nvSpPr>
          <p:cNvPr id="25" name="Text 23"/>
          <p:cNvSpPr/>
          <p:nvPr/>
        </p:nvSpPr>
        <p:spPr>
          <a:xfrm>
            <a:off x="7342632" y="1591056"/>
            <a:ext cx="1371600" cy="420624"/>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predictor variables</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selected</a:t>
            </a:r>
            <a:endParaRPr lang="en-US" sz="950" dirty="0"/>
          </a:p>
        </p:txBody>
      </p:sp>
      <p:sp>
        <p:nvSpPr>
          <p:cNvPr id="26" name="Shape 24"/>
          <p:cNvSpPr/>
          <p:nvPr/>
        </p:nvSpPr>
        <p:spPr>
          <a:xfrm>
            <a:off x="5577840" y="2377440"/>
            <a:ext cx="1508760" cy="1170432"/>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27" name="Text 25"/>
          <p:cNvSpPr/>
          <p:nvPr/>
        </p:nvSpPr>
        <p:spPr>
          <a:xfrm>
            <a:off x="5577840" y="2505456"/>
            <a:ext cx="150876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Georgia" pitchFamily="34" charset="0"/>
                <a:ea typeface="Georgia" pitchFamily="34" charset="-122"/>
                <a:cs typeface="Georgia" pitchFamily="34" charset="-120"/>
              </a:rPr>
              <a:t>3</a:t>
            </a:r>
            <a:endParaRPr lang="en-US" sz="2600" dirty="0"/>
          </a:p>
        </p:txBody>
      </p:sp>
      <p:sp>
        <p:nvSpPr>
          <p:cNvPr id="28" name="Text 26"/>
          <p:cNvSpPr/>
          <p:nvPr/>
        </p:nvSpPr>
        <p:spPr>
          <a:xfrm>
            <a:off x="5650992" y="3035808"/>
            <a:ext cx="1371600" cy="420624"/>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target encodings</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(binary / ordinal / numerical)</a:t>
            </a:r>
            <a:endParaRPr lang="en-US" sz="950" dirty="0"/>
          </a:p>
        </p:txBody>
      </p:sp>
      <p:sp>
        <p:nvSpPr>
          <p:cNvPr id="29" name="Shape 27"/>
          <p:cNvSpPr/>
          <p:nvPr/>
        </p:nvSpPr>
        <p:spPr>
          <a:xfrm>
            <a:off x="7269480" y="2377440"/>
            <a:ext cx="1508760" cy="1170432"/>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30" name="Text 28"/>
          <p:cNvSpPr/>
          <p:nvPr/>
        </p:nvSpPr>
        <p:spPr>
          <a:xfrm>
            <a:off x="7269480" y="2505456"/>
            <a:ext cx="1508760" cy="502920"/>
          </a:xfrm>
          <a:prstGeom prst="rect">
            <a:avLst/>
          </a:prstGeom>
          <a:noFill/>
          <a:ln/>
        </p:spPr>
        <p:txBody>
          <a:bodyPr wrap="square" lIns="0" tIns="0" rIns="0" bIns="0" rtlCol="0" anchor="ctr"/>
          <a:lstStyle/>
          <a:p>
            <a:pPr marL="0" indent="0" algn="ctr">
              <a:buNone/>
            </a:pPr>
            <a:r>
              <a:rPr lang="en-US" sz="2600" b="1" dirty="0">
                <a:solidFill>
                  <a:srgbClr val="1E2761"/>
                </a:solidFill>
                <a:latin typeface="Georgia" pitchFamily="34" charset="0"/>
                <a:ea typeface="Georgia" pitchFamily="34" charset="-122"/>
                <a:cs typeface="Georgia" pitchFamily="34" charset="-120"/>
              </a:rPr>
              <a:t>5-fold</a:t>
            </a:r>
            <a:endParaRPr lang="en-US" sz="2600" dirty="0"/>
          </a:p>
        </p:txBody>
      </p:sp>
      <p:sp>
        <p:nvSpPr>
          <p:cNvPr id="31" name="Text 29"/>
          <p:cNvSpPr/>
          <p:nvPr/>
        </p:nvSpPr>
        <p:spPr>
          <a:xfrm>
            <a:off x="7342632" y="3035808"/>
            <a:ext cx="1371600" cy="420624"/>
          </a:xfrm>
          <a:prstGeom prst="rect">
            <a:avLst/>
          </a:prstGeom>
          <a:noFill/>
          <a:ln/>
        </p:spPr>
        <p:txBody>
          <a:bodyPr wrap="square" lIns="0" tIns="0" rIns="0" bIns="0"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cross-validation</a:t>
            </a:r>
            <a:endParaRPr lang="en-US" sz="950" dirty="0"/>
          </a:p>
          <a:p>
            <a:pPr marL="0" indent="0" algn="ctr">
              <a:buNone/>
            </a:pPr>
            <a:r>
              <a:rPr lang="en-US" sz="950" dirty="0">
                <a:solidFill>
                  <a:srgbClr val="6B7280"/>
                </a:solidFill>
                <a:latin typeface="Calibri" pitchFamily="34" charset="0"/>
                <a:ea typeface="Calibri" pitchFamily="34" charset="-122"/>
                <a:cs typeface="Calibri" pitchFamily="34" charset="-120"/>
              </a:rPr>
              <a:t>throughout</a:t>
            </a:r>
            <a:endParaRPr lang="en-US" sz="950" dirty="0"/>
          </a:p>
        </p:txBody>
      </p:sp>
      <p:sp>
        <p:nvSpPr>
          <p:cNvPr id="32" name="Shape 30"/>
          <p:cNvSpPr/>
          <p:nvPr/>
        </p:nvSpPr>
        <p:spPr>
          <a:xfrm>
            <a:off x="411480" y="4480560"/>
            <a:ext cx="8321040" cy="438912"/>
          </a:xfrm>
          <a:prstGeom prst="rect">
            <a:avLst/>
          </a:prstGeom>
          <a:solidFill>
            <a:srgbClr val="FEF3C7"/>
          </a:solidFill>
          <a:ln w="12700">
            <a:solidFill>
              <a:srgbClr val="FCD34D"/>
            </a:solidFill>
            <a:prstDash val="solid"/>
          </a:ln>
        </p:spPr>
        <p:txBody>
          <a:bodyPr/>
          <a:lstStyle/>
          <a:p>
            <a:endParaRPr lang="en-US"/>
          </a:p>
        </p:txBody>
      </p:sp>
      <p:sp>
        <p:nvSpPr>
          <p:cNvPr id="33" name="Text 31"/>
          <p:cNvSpPr/>
          <p:nvPr/>
        </p:nvSpPr>
        <p:spPr>
          <a:xfrm>
            <a:off x="411480" y="4480560"/>
            <a:ext cx="8321040" cy="438912"/>
          </a:xfrm>
          <a:prstGeom prst="rect">
            <a:avLst/>
          </a:prstGeom>
          <a:noFill/>
          <a:ln/>
        </p:spPr>
        <p:txBody>
          <a:bodyPr wrap="square" rtlCol="0" anchor="ctr"/>
          <a:lstStyle/>
          <a:p>
            <a:pPr marL="0" indent="0" algn="ctr">
              <a:buNone/>
            </a:pPr>
            <a:r>
              <a:rPr lang="en-US" sz="1100" dirty="0">
                <a:solidFill>
                  <a:srgbClr val="92400E"/>
                </a:solidFill>
                <a:latin typeface="Calibri" pitchFamily="34" charset="0"/>
                <a:ea typeface="Calibri" pitchFamily="34" charset="-122"/>
                <a:cs typeface="Calibri" pitchFamily="34" charset="-120"/>
              </a:rPr>
              <a:t>⚠   Leakage audit performed — post-outcome variables explicitly excluded before any model fitting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Methods &amp; Theory</a:t>
            </a:r>
            <a:endParaRPr lang="en-US" sz="2600" dirty="0"/>
          </a:p>
        </p:txBody>
      </p:sp>
      <p:sp>
        <p:nvSpPr>
          <p:cNvPr id="4" name="Text 2"/>
          <p:cNvSpPr/>
          <p:nvPr/>
        </p:nvSpPr>
        <p:spPr>
          <a:xfrm>
            <a:off x="502920" y="621792"/>
            <a:ext cx="8138160" cy="237744"/>
          </a:xfrm>
          <a:prstGeom prst="rect">
            <a:avLst/>
          </a:prstGeom>
          <a:noFill/>
          <a:ln/>
        </p:spPr>
        <p:txBody>
          <a:bodyPr wrap="square" lIns="0" tIns="0" rIns="0" bIns="0" rtlCol="0" anchor="ctr"/>
          <a:lstStyle/>
          <a:p>
            <a:r>
              <a:rPr lang="en-US" sz="1150" i="1" dirty="0">
                <a:solidFill>
                  <a:srgbClr val="6B7280"/>
                </a:solidFill>
                <a:latin typeface="Calibri" pitchFamily="34" charset="0"/>
                <a:ea typeface="Calibri" pitchFamily="34" charset="-122"/>
                <a:cs typeface="Calibri" pitchFamily="34" charset="-120"/>
              </a:rPr>
              <a:t>Five model classes · all hyperparameters tuned with </a:t>
            </a:r>
            <a:r>
              <a:rPr lang="en-US" sz="1150" i="1" dirty="0">
                <a:solidFill>
                  <a:srgbClr val="6B7280"/>
                </a:solidFill>
                <a:latin typeface="Calibri" pitchFamily="34" charset="0"/>
                <a:cs typeface="Calibri" pitchFamily="34" charset="-120"/>
              </a:rPr>
              <a:t>Repeated 5-way validation for model tuning</a:t>
            </a:r>
          </a:p>
        </p:txBody>
      </p:sp>
      <p:sp>
        <p:nvSpPr>
          <p:cNvPr id="5" name="Shape 3"/>
          <p:cNvSpPr/>
          <p:nvPr/>
        </p:nvSpPr>
        <p:spPr>
          <a:xfrm>
            <a:off x="365760" y="914400"/>
            <a:ext cx="2606040" cy="169164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6" name="Shape 4"/>
          <p:cNvSpPr/>
          <p:nvPr/>
        </p:nvSpPr>
        <p:spPr>
          <a:xfrm>
            <a:off x="365760" y="914400"/>
            <a:ext cx="2606040" cy="329184"/>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475488" y="950976"/>
            <a:ext cx="2395728" cy="25603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Decision Tree</a:t>
            </a:r>
            <a:endParaRPr lang="en-US" sz="1300" dirty="0"/>
          </a:p>
        </p:txBody>
      </p:sp>
      <p:sp>
        <p:nvSpPr>
          <p:cNvPr id="8" name="Text 6"/>
          <p:cNvSpPr/>
          <p:nvPr/>
        </p:nvSpPr>
        <p:spPr>
          <a:xfrm>
            <a:off x="475488" y="1316736"/>
            <a:ext cx="2395728" cy="896112"/>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Recursive binary splits minimize impurity. Interpretable baseline but high-variance, prone to overfitting deep trees.</a:t>
            </a:r>
            <a:endParaRPr lang="en-US" sz="1050" dirty="0"/>
          </a:p>
          <a:p>
            <a:pPr>
              <a:spcBef>
                <a:spcPts val="400"/>
              </a:spcBef>
            </a:pPr>
            <a:r>
              <a:rPr sz="900" i="1">
                <a:solidFill>
                  <a:srgbClr val="444444"/>
                </a:solidFill>
              </a:rPr>
              <a:t>Key params: max_depth, min_samples_leaf</a:t>
            </a:r>
          </a:p>
        </p:txBody>
      </p:sp>
      <p:sp>
        <p:nvSpPr>
          <p:cNvPr id="9" name="Text 7"/>
          <p:cNvSpPr/>
          <p:nvPr/>
        </p:nvSpPr>
        <p:spPr>
          <a:xfrm>
            <a:off x="475488" y="2350008"/>
            <a:ext cx="2395728" cy="201168"/>
          </a:xfrm>
          <a:prstGeom prst="rect">
            <a:avLst/>
          </a:prstGeom>
          <a:noFill/>
          <a:ln/>
        </p:spPr>
        <p:txBody>
          <a:bodyPr wrap="square" lIns="0" tIns="0" rIns="0" bIns="0" rtlCol="0" anchor="ctr"/>
          <a:lstStyle/>
          <a:p>
            <a:pPr marL="0" indent="0">
              <a:buNone/>
            </a:pPr>
            <a:r>
              <a:rPr lang="en-US" sz="900" b="1" i="1" dirty="0">
                <a:solidFill>
                  <a:srgbClr val="1E2761"/>
                </a:solidFill>
                <a:latin typeface="Calibri" pitchFamily="34" charset="0"/>
                <a:ea typeface="Calibri" pitchFamily="34" charset="-122"/>
                <a:cs typeface="Calibri" pitchFamily="34" charset="-120"/>
              </a:rPr>
              <a:t>Baseline</a:t>
            </a:r>
            <a:endParaRPr lang="en-US" sz="900" dirty="0"/>
          </a:p>
        </p:txBody>
      </p:sp>
      <p:sp>
        <p:nvSpPr>
          <p:cNvPr id="10" name="Shape 8"/>
          <p:cNvSpPr/>
          <p:nvPr/>
        </p:nvSpPr>
        <p:spPr>
          <a:xfrm>
            <a:off x="3429000" y="914400"/>
            <a:ext cx="2606040" cy="169164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11" name="Shape 9"/>
          <p:cNvSpPr/>
          <p:nvPr/>
        </p:nvSpPr>
        <p:spPr>
          <a:xfrm>
            <a:off x="3429000" y="914400"/>
            <a:ext cx="2606040" cy="329184"/>
          </a:xfrm>
          <a:prstGeom prst="rect">
            <a:avLst/>
          </a:prstGeom>
          <a:solidFill>
            <a:srgbClr val="0D9488"/>
          </a:solidFill>
          <a:ln w="12700">
            <a:solidFill>
              <a:srgbClr val="0D9488"/>
            </a:solidFill>
            <a:prstDash val="solid"/>
          </a:ln>
        </p:spPr>
        <p:txBody>
          <a:bodyPr/>
          <a:lstStyle/>
          <a:p>
            <a:endParaRPr lang="en-US"/>
          </a:p>
        </p:txBody>
      </p:sp>
      <p:sp>
        <p:nvSpPr>
          <p:cNvPr id="12" name="Text 10"/>
          <p:cNvSpPr/>
          <p:nvPr/>
        </p:nvSpPr>
        <p:spPr>
          <a:xfrm>
            <a:off x="3538728" y="950976"/>
            <a:ext cx="2395728" cy="25603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Random Forest</a:t>
            </a:r>
            <a:endParaRPr lang="en-US" sz="1300" dirty="0"/>
          </a:p>
        </p:txBody>
      </p:sp>
      <p:sp>
        <p:nvSpPr>
          <p:cNvPr id="13" name="Text 11"/>
          <p:cNvSpPr/>
          <p:nvPr/>
        </p:nvSpPr>
        <p:spPr>
          <a:xfrm>
            <a:off x="3538728" y="1316736"/>
            <a:ext cx="2395728" cy="896112"/>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Bootstrap aggregation of decorrelated trees. Averaging reduces variance. Strong on imbalanced binary targets with class weighting.</a:t>
            </a:r>
            <a:endParaRPr lang="en-US" sz="1050" dirty="0"/>
          </a:p>
          <a:p>
            <a:pPr>
              <a:spcBef>
                <a:spcPts val="400"/>
              </a:spcBef>
            </a:pPr>
            <a:r>
              <a:rPr sz="900" i="1">
                <a:solidFill>
                  <a:srgbClr val="444444"/>
                </a:solidFill>
              </a:rPr>
              <a:t>Key params: n_estimators, max_features, min_samples_leaf</a:t>
            </a:r>
          </a:p>
        </p:txBody>
      </p:sp>
      <p:sp>
        <p:nvSpPr>
          <p:cNvPr id="14" name="Text 12"/>
          <p:cNvSpPr/>
          <p:nvPr/>
        </p:nvSpPr>
        <p:spPr>
          <a:xfrm>
            <a:off x="3538728" y="2350008"/>
            <a:ext cx="2395728" cy="201168"/>
          </a:xfrm>
          <a:prstGeom prst="rect">
            <a:avLst/>
          </a:prstGeom>
          <a:noFill/>
          <a:ln/>
        </p:spPr>
        <p:txBody>
          <a:bodyPr wrap="square" lIns="0" tIns="0" rIns="0" bIns="0" rtlCol="0" anchor="ctr"/>
          <a:lstStyle/>
          <a:p>
            <a:pPr marL="0" indent="0">
              <a:buNone/>
            </a:pPr>
            <a:r>
              <a:rPr lang="en-US" sz="900" b="1" i="1" dirty="0">
                <a:solidFill>
                  <a:srgbClr val="0D9488"/>
                </a:solidFill>
                <a:latin typeface="Calibri" pitchFamily="34" charset="0"/>
                <a:ea typeface="Calibri" pitchFamily="34" charset="-122"/>
                <a:cs typeface="Calibri" pitchFamily="34" charset="-120"/>
              </a:rPr>
              <a:t>Bagging</a:t>
            </a:r>
            <a:endParaRPr lang="en-US" sz="900" dirty="0"/>
          </a:p>
        </p:txBody>
      </p:sp>
      <p:sp>
        <p:nvSpPr>
          <p:cNvPr id="15" name="Shape 13"/>
          <p:cNvSpPr/>
          <p:nvPr/>
        </p:nvSpPr>
        <p:spPr>
          <a:xfrm>
            <a:off x="6492240" y="914400"/>
            <a:ext cx="2606040" cy="169164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16" name="Shape 14"/>
          <p:cNvSpPr/>
          <p:nvPr/>
        </p:nvSpPr>
        <p:spPr>
          <a:xfrm>
            <a:off x="6492240" y="914400"/>
            <a:ext cx="2606040" cy="329184"/>
          </a:xfrm>
          <a:prstGeom prst="rect">
            <a:avLst/>
          </a:prstGeom>
          <a:solidFill>
            <a:srgbClr val="7C3AED"/>
          </a:solidFill>
          <a:ln w="12700">
            <a:solidFill>
              <a:srgbClr val="7C3AED"/>
            </a:solidFill>
            <a:prstDash val="solid"/>
          </a:ln>
        </p:spPr>
        <p:txBody>
          <a:bodyPr/>
          <a:lstStyle/>
          <a:p>
            <a:endParaRPr lang="en-US"/>
          </a:p>
        </p:txBody>
      </p:sp>
      <p:sp>
        <p:nvSpPr>
          <p:cNvPr id="17" name="Text 15"/>
          <p:cNvSpPr/>
          <p:nvPr/>
        </p:nvSpPr>
        <p:spPr>
          <a:xfrm>
            <a:off x="6601968" y="950976"/>
            <a:ext cx="2395728" cy="25603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AdaBoost</a:t>
            </a:r>
            <a:endParaRPr lang="en-US" sz="1300" dirty="0"/>
          </a:p>
        </p:txBody>
      </p:sp>
      <p:sp>
        <p:nvSpPr>
          <p:cNvPr id="18" name="Text 16"/>
          <p:cNvSpPr/>
          <p:nvPr/>
        </p:nvSpPr>
        <p:spPr>
          <a:xfrm>
            <a:off x="6601968" y="1316736"/>
            <a:ext cx="2395728" cy="896112"/>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Sequential learners reweight misclassified examples. Focuses later rounds on decision-boundary hard cases.</a:t>
            </a:r>
            <a:endParaRPr lang="en-US" sz="1050" dirty="0"/>
          </a:p>
          <a:p>
            <a:pPr>
              <a:spcBef>
                <a:spcPts val="400"/>
              </a:spcBef>
            </a:pPr>
            <a:r>
              <a:rPr sz="900" i="1">
                <a:solidFill>
                  <a:srgbClr val="444444"/>
                </a:solidFill>
              </a:rPr>
              <a:t>Key params: n_estimators, learning_rate</a:t>
            </a:r>
          </a:p>
        </p:txBody>
      </p:sp>
      <p:sp>
        <p:nvSpPr>
          <p:cNvPr id="19" name="Text 17"/>
          <p:cNvSpPr/>
          <p:nvPr/>
        </p:nvSpPr>
        <p:spPr>
          <a:xfrm>
            <a:off x="6601968" y="2350008"/>
            <a:ext cx="2395728" cy="201168"/>
          </a:xfrm>
          <a:prstGeom prst="rect">
            <a:avLst/>
          </a:prstGeom>
          <a:noFill/>
          <a:ln/>
        </p:spPr>
        <p:txBody>
          <a:bodyPr wrap="square" lIns="0" tIns="0" rIns="0" bIns="0" rtlCol="0" anchor="ctr"/>
          <a:lstStyle/>
          <a:p>
            <a:pPr marL="0" indent="0">
              <a:buNone/>
            </a:pPr>
            <a:r>
              <a:rPr lang="en-US" sz="900" b="1" i="1" dirty="0">
                <a:solidFill>
                  <a:srgbClr val="7C3AED"/>
                </a:solidFill>
                <a:latin typeface="Calibri" pitchFamily="34" charset="0"/>
                <a:ea typeface="Calibri" pitchFamily="34" charset="-122"/>
                <a:cs typeface="Calibri" pitchFamily="34" charset="-120"/>
              </a:rPr>
              <a:t>Boosting</a:t>
            </a:r>
            <a:endParaRPr lang="en-US" sz="900" dirty="0"/>
          </a:p>
        </p:txBody>
      </p:sp>
      <p:sp>
        <p:nvSpPr>
          <p:cNvPr id="20" name="Shape 18"/>
          <p:cNvSpPr/>
          <p:nvPr/>
        </p:nvSpPr>
        <p:spPr>
          <a:xfrm>
            <a:off x="1463040" y="2788920"/>
            <a:ext cx="2606040" cy="169164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21" name="Shape 19"/>
          <p:cNvSpPr/>
          <p:nvPr/>
        </p:nvSpPr>
        <p:spPr>
          <a:xfrm>
            <a:off x="1463040" y="2788920"/>
            <a:ext cx="2606040" cy="329184"/>
          </a:xfrm>
          <a:prstGeom prst="rect">
            <a:avLst/>
          </a:prstGeom>
          <a:solidFill>
            <a:srgbClr val="B45309"/>
          </a:solidFill>
          <a:ln w="12700">
            <a:solidFill>
              <a:srgbClr val="B45309"/>
            </a:solidFill>
            <a:prstDash val="solid"/>
          </a:ln>
        </p:spPr>
        <p:txBody>
          <a:bodyPr/>
          <a:lstStyle/>
          <a:p>
            <a:endParaRPr lang="en-US"/>
          </a:p>
        </p:txBody>
      </p:sp>
      <p:sp>
        <p:nvSpPr>
          <p:cNvPr id="22" name="Text 20"/>
          <p:cNvSpPr/>
          <p:nvPr/>
        </p:nvSpPr>
        <p:spPr>
          <a:xfrm>
            <a:off x="1572768" y="2825496"/>
            <a:ext cx="2395728" cy="25603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Gradient Boosting</a:t>
            </a:r>
            <a:endParaRPr lang="en-US" sz="1300" dirty="0"/>
          </a:p>
        </p:txBody>
      </p:sp>
      <p:sp>
        <p:nvSpPr>
          <p:cNvPr id="23" name="Text 21"/>
          <p:cNvSpPr/>
          <p:nvPr/>
        </p:nvSpPr>
        <p:spPr>
          <a:xfrm>
            <a:off x="1572768" y="3191256"/>
            <a:ext cx="2395728" cy="896112"/>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Fits each new tree to ensemble residuals. Strongest discriminator overall; most expensive to tune.</a:t>
            </a:r>
            <a:endParaRPr lang="en-US" sz="1050" dirty="0"/>
          </a:p>
          <a:p>
            <a:pPr>
              <a:spcBef>
                <a:spcPts val="400"/>
              </a:spcBef>
            </a:pPr>
            <a:r>
              <a:rPr sz="900" i="1">
                <a:solidFill>
                  <a:srgbClr val="444444"/>
                </a:solidFill>
              </a:rPr>
              <a:t>Key params: n_estimators, learning_rate, max_depth, subsample</a:t>
            </a:r>
          </a:p>
        </p:txBody>
      </p:sp>
      <p:sp>
        <p:nvSpPr>
          <p:cNvPr id="24" name="Text 22"/>
          <p:cNvSpPr/>
          <p:nvPr/>
        </p:nvSpPr>
        <p:spPr>
          <a:xfrm>
            <a:off x="1572768" y="4224528"/>
            <a:ext cx="2395728" cy="201168"/>
          </a:xfrm>
          <a:prstGeom prst="rect">
            <a:avLst/>
          </a:prstGeom>
          <a:noFill/>
          <a:ln/>
        </p:spPr>
        <p:txBody>
          <a:bodyPr wrap="square" lIns="0" tIns="0" rIns="0" bIns="0" rtlCol="0" anchor="ctr"/>
          <a:lstStyle/>
          <a:p>
            <a:pPr marL="0" indent="0">
              <a:buNone/>
            </a:pPr>
            <a:r>
              <a:rPr lang="en-US" sz="900" b="1" i="1" dirty="0">
                <a:solidFill>
                  <a:srgbClr val="B45309"/>
                </a:solidFill>
                <a:latin typeface="Calibri" pitchFamily="34" charset="0"/>
                <a:ea typeface="Calibri" pitchFamily="34" charset="-122"/>
                <a:cs typeface="Calibri" pitchFamily="34" charset="-120"/>
              </a:rPr>
              <a:t>Boosting</a:t>
            </a:r>
            <a:endParaRPr lang="en-US" sz="900" dirty="0"/>
          </a:p>
        </p:txBody>
      </p:sp>
      <p:sp>
        <p:nvSpPr>
          <p:cNvPr id="25" name="Shape 23"/>
          <p:cNvSpPr/>
          <p:nvPr/>
        </p:nvSpPr>
        <p:spPr>
          <a:xfrm>
            <a:off x="4937760" y="2788920"/>
            <a:ext cx="2606040" cy="169164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26" name="Shape 24"/>
          <p:cNvSpPr/>
          <p:nvPr/>
        </p:nvSpPr>
        <p:spPr>
          <a:xfrm>
            <a:off x="4937760" y="2788920"/>
            <a:ext cx="2606040" cy="329184"/>
          </a:xfrm>
          <a:prstGeom prst="rect">
            <a:avLst/>
          </a:prstGeom>
          <a:solidFill>
            <a:srgbClr val="0369A1"/>
          </a:solidFill>
          <a:ln w="12700">
            <a:solidFill>
              <a:srgbClr val="0369A1"/>
            </a:solidFill>
            <a:prstDash val="solid"/>
          </a:ln>
        </p:spPr>
        <p:txBody>
          <a:bodyPr/>
          <a:lstStyle/>
          <a:p>
            <a:endParaRPr lang="en-US"/>
          </a:p>
        </p:txBody>
      </p:sp>
      <p:sp>
        <p:nvSpPr>
          <p:cNvPr id="27" name="Text 25"/>
          <p:cNvSpPr/>
          <p:nvPr/>
        </p:nvSpPr>
        <p:spPr>
          <a:xfrm>
            <a:off x="5047488" y="2825496"/>
            <a:ext cx="2395728" cy="25603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Bagging Regressor</a:t>
            </a:r>
            <a:endParaRPr lang="en-US" sz="1300" dirty="0"/>
          </a:p>
        </p:txBody>
      </p:sp>
      <p:sp>
        <p:nvSpPr>
          <p:cNvPr id="28" name="Text 26"/>
          <p:cNvSpPr/>
          <p:nvPr/>
        </p:nvSpPr>
        <p:spPr>
          <a:xfrm>
            <a:off x="5047488" y="3191256"/>
            <a:ext cx="2395728" cy="896112"/>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Bootstrap aggregation of base regressors. Reduces prediction variance without increasing bias, best regression performer here.</a:t>
            </a:r>
            <a:endParaRPr lang="en-US" sz="1050" dirty="0"/>
          </a:p>
          <a:p>
            <a:pPr>
              <a:spcBef>
                <a:spcPts val="400"/>
              </a:spcBef>
            </a:pPr>
            <a:r>
              <a:rPr sz="900" i="1">
                <a:solidFill>
                  <a:srgbClr val="444444"/>
                </a:solidFill>
              </a:rPr>
              <a:t>Key params: n_estimators, max_samples, max_features</a:t>
            </a:r>
          </a:p>
        </p:txBody>
      </p:sp>
      <p:sp>
        <p:nvSpPr>
          <p:cNvPr id="29" name="Text 27"/>
          <p:cNvSpPr/>
          <p:nvPr/>
        </p:nvSpPr>
        <p:spPr>
          <a:xfrm>
            <a:off x="5047488" y="4224528"/>
            <a:ext cx="2395728" cy="201168"/>
          </a:xfrm>
          <a:prstGeom prst="rect">
            <a:avLst/>
          </a:prstGeom>
          <a:noFill/>
          <a:ln/>
        </p:spPr>
        <p:txBody>
          <a:bodyPr wrap="square" lIns="0" tIns="0" rIns="0" bIns="0" rtlCol="0" anchor="ctr"/>
          <a:lstStyle/>
          <a:p>
            <a:pPr marL="0" indent="0">
              <a:buNone/>
            </a:pPr>
            <a:r>
              <a:rPr lang="en-US" sz="900" b="1" i="1" dirty="0">
                <a:solidFill>
                  <a:srgbClr val="0369A1"/>
                </a:solidFill>
                <a:latin typeface="Calibri" pitchFamily="34" charset="0"/>
                <a:ea typeface="Calibri" pitchFamily="34" charset="-122"/>
                <a:cs typeface="Calibri" pitchFamily="34" charset="-120"/>
              </a:rPr>
              <a:t>Regression</a:t>
            </a:r>
            <a:endParaRPr lang="en-US" sz="900" dirty="0"/>
          </a:p>
        </p:txBody>
      </p:sp>
      <p:sp>
        <p:nvSpPr>
          <p:cNvPr id="30" name="Text 28"/>
          <p:cNvSpPr/>
          <p:nvPr/>
        </p:nvSpPr>
        <p:spPr>
          <a:xfrm>
            <a:off x="457200" y="4663440"/>
            <a:ext cx="8229600" cy="274320"/>
          </a:xfrm>
          <a:prstGeom prst="rect">
            <a:avLst/>
          </a:prstGeom>
          <a:noFill/>
          <a:ln/>
        </p:spPr>
        <p:txBody>
          <a:bodyPr wrap="square"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Metrics: Accuracy + ROC AUC (binary)  ·  Macro F1 (multi-class)  ·  RMSE + R² (regression)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0"/>
          <p:cNvSpPr txBox="1"/>
          <p:nvPr/>
        </p:nvSpPr>
        <p:spPr>
          <a:xfrm>
            <a:off x="502920" y="128016"/>
            <a:ext cx="8138160" cy="475488"/>
          </a:xfrm>
          <a:prstGeom prst="rect">
            <a:avLst/>
          </a:prstGeom>
          <a:noFill/>
        </p:spPr>
        <p:txBody>
          <a:bodyPr wrap="none">
            <a:spAutoFit/>
          </a:bodyPr>
          <a:lstStyle/>
          <a:p>
            <a:pPr algn="l"/>
            <a:r>
              <a:rPr sz="2800" b="1">
                <a:solidFill>
                  <a:srgbClr val="1B2A52"/>
                </a:solidFill>
              </a:rPr>
              <a:t>Methodology</a:t>
            </a:r>
          </a:p>
        </p:txBody>
      </p:sp>
      <p:sp>
        <p:nvSpPr>
          <p:cNvPr id="2" name="TextBox 1"/>
          <p:cNvSpPr txBox="1"/>
          <p:nvPr/>
        </p:nvSpPr>
        <p:spPr>
          <a:xfrm>
            <a:off x="502920" y="658368"/>
            <a:ext cx="8138160" cy="237744"/>
          </a:xfrm>
          <a:prstGeom prst="rect">
            <a:avLst/>
          </a:prstGeom>
          <a:noFill/>
        </p:spPr>
        <p:txBody>
          <a:bodyPr wrap="none">
            <a:spAutoFit/>
          </a:bodyPr>
          <a:lstStyle/>
          <a:p>
            <a:r>
              <a:rPr sz="1100" i="1">
                <a:solidFill>
                  <a:srgbClr val="444444"/>
                </a:solidFill>
              </a:rPr>
              <a:t>Data preparation · Feature engineering · Model training setup</a:t>
            </a:r>
          </a:p>
        </p:txBody>
      </p:sp>
      <p:sp>
        <p:nvSpPr>
          <p:cNvPr id="3" name="Rectangle 2"/>
          <p:cNvSpPr/>
          <p:nvPr/>
        </p:nvSpPr>
        <p:spPr>
          <a:xfrm>
            <a:off x="365760" y="960120"/>
            <a:ext cx="4069080" cy="3566160"/>
          </a:xfrm>
          <a:prstGeom prst="rect">
            <a:avLst/>
          </a:prstGeom>
          <a:solidFill>
            <a:srgbClr val="F5F7FA"/>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005840"/>
            <a:ext cx="3794760" cy="347472"/>
          </a:xfrm>
          <a:prstGeom prst="rect">
            <a:avLst/>
          </a:prstGeom>
          <a:noFill/>
        </p:spPr>
        <p:txBody>
          <a:bodyPr wrap="none">
            <a:spAutoFit/>
          </a:bodyPr>
          <a:lstStyle/>
          <a:p>
            <a:r>
              <a:rPr sz="1400" b="1">
                <a:solidFill>
                  <a:srgbClr val="1B2A52"/>
                </a:solidFill>
              </a:rPr>
              <a:t>Data Preparation</a:t>
            </a:r>
          </a:p>
        </p:txBody>
      </p:sp>
      <p:sp>
        <p:nvSpPr>
          <p:cNvPr id="5" name="TextBox 4"/>
          <p:cNvSpPr txBox="1"/>
          <p:nvPr/>
        </p:nvSpPr>
        <p:spPr>
          <a:xfrm>
            <a:off x="502920" y="1417320"/>
            <a:ext cx="3794760" cy="2926080"/>
          </a:xfrm>
          <a:prstGeom prst="rect">
            <a:avLst/>
          </a:prstGeom>
          <a:noFill/>
        </p:spPr>
        <p:txBody>
          <a:bodyPr wrap="square">
            <a:spAutoFit/>
          </a:bodyPr>
          <a:lstStyle/>
          <a:p>
            <a:r>
              <a:rPr sz="1050" b="1">
                <a:solidFill>
                  <a:srgbClr val="1B2A52"/>
                </a:solidFill>
              </a:rPr>
              <a:t>Dataset: </a:t>
            </a:r>
            <a:r>
              <a:rPr sz="1050">
                <a:solidFill>
                  <a:srgbClr val="222222"/>
                </a:solidFill>
              </a:rPr>
              <a:t>10,561 youth respondents, NSDUH 2019 (under 18 filter)</a:t>
            </a:r>
          </a:p>
          <a:p>
            <a:pPr>
              <a:spcBef>
                <a:spcPts val="700"/>
              </a:spcBef>
            </a:pPr>
            <a:r>
              <a:rPr sz="1050" b="1">
                <a:solidFill>
                  <a:srgbClr val="1B2A52"/>
                </a:solidFill>
              </a:rPr>
              <a:t>Features: </a:t>
            </a:r>
            <a:r>
              <a:rPr sz="1050">
                <a:solidFill>
                  <a:srgbClr val="222222"/>
                </a:solidFill>
              </a:rPr>
              <a:t>47 youth-experience + 8 demographic = 55 base features</a:t>
            </a:r>
          </a:p>
          <a:p>
            <a:pPr>
              <a:spcBef>
                <a:spcPts val="700"/>
              </a:spcBef>
            </a:pPr>
            <a:r>
              <a:rPr sz="1050" b="1">
                <a:solidFill>
                  <a:srgbClr val="1B2A52"/>
                </a:solidFill>
              </a:rPr>
              <a:t>Encoding: </a:t>
            </a:r>
            <a:r>
              <a:rPr sz="1050">
                <a:solidFill>
                  <a:srgbClr val="222222"/>
                </a:solidFill>
              </a:rPr>
              <a:t>NEWRACE2 &amp; COUTYP4 one-hot encoded → 63 total features; binary items recoded 1/2 → 1/0</a:t>
            </a:r>
          </a:p>
          <a:p>
            <a:pPr>
              <a:spcBef>
                <a:spcPts val="700"/>
              </a:spcBef>
            </a:pPr>
            <a:r>
              <a:rPr sz="1050" b="1">
                <a:solidFill>
                  <a:srgbClr val="1B2A52"/>
                </a:solidFill>
              </a:rPr>
              <a:t>Missing: </a:t>
            </a:r>
            <a:r>
              <a:rPr sz="1050">
                <a:solidFill>
                  <a:srgbClr val="222222"/>
                </a:solidFill>
              </a:rPr>
              <a:t>Per-column NaN check; mode imputation for binary survey items (&lt;8% each column)</a:t>
            </a:r>
          </a:p>
          <a:p>
            <a:pPr>
              <a:spcBef>
                <a:spcPts val="700"/>
              </a:spcBef>
            </a:pPr>
            <a:r>
              <a:rPr sz="1050" b="1">
                <a:solidFill>
                  <a:srgbClr val="1B2A52"/>
                </a:solidFill>
              </a:rPr>
              <a:t>Leakage: </a:t>
            </a:r>
            <a:r>
              <a:rPr sz="1050">
                <a:solidFill>
                  <a:srgbClr val="222222"/>
                </a:solidFill>
              </a:rPr>
              <a:t>All substance outcome variables excluded before any model fitting</a:t>
            </a:r>
          </a:p>
        </p:txBody>
      </p:sp>
      <p:sp>
        <p:nvSpPr>
          <p:cNvPr id="6" name="Rectangle 5"/>
          <p:cNvSpPr/>
          <p:nvPr/>
        </p:nvSpPr>
        <p:spPr>
          <a:xfrm>
            <a:off x="4709160" y="960120"/>
            <a:ext cx="4069080" cy="3566160"/>
          </a:xfrm>
          <a:prstGeom prst="rect">
            <a:avLst/>
          </a:prstGeom>
          <a:solidFill>
            <a:srgbClr val="F5F7FA"/>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46320" y="1005840"/>
            <a:ext cx="3794760" cy="347472"/>
          </a:xfrm>
          <a:prstGeom prst="rect">
            <a:avLst/>
          </a:prstGeom>
          <a:noFill/>
        </p:spPr>
        <p:txBody>
          <a:bodyPr wrap="none">
            <a:spAutoFit/>
          </a:bodyPr>
          <a:lstStyle/>
          <a:p>
            <a:r>
              <a:rPr sz="1400" b="1">
                <a:solidFill>
                  <a:srgbClr val="1B2A52"/>
                </a:solidFill>
              </a:rPr>
              <a:t>Modeling Setup</a:t>
            </a:r>
          </a:p>
        </p:txBody>
      </p:sp>
      <p:sp>
        <p:nvSpPr>
          <p:cNvPr id="8" name="TextBox 7"/>
          <p:cNvSpPr txBox="1"/>
          <p:nvPr/>
        </p:nvSpPr>
        <p:spPr>
          <a:xfrm>
            <a:off x="4846320" y="1417320"/>
            <a:ext cx="3794760" cy="2228815"/>
          </a:xfrm>
          <a:prstGeom prst="rect">
            <a:avLst/>
          </a:prstGeom>
          <a:noFill/>
        </p:spPr>
        <p:txBody>
          <a:bodyPr wrap="square">
            <a:spAutoFit/>
          </a:bodyPr>
          <a:lstStyle/>
          <a:p>
            <a:r>
              <a:rPr sz="1050" b="1" dirty="0">
                <a:solidFill>
                  <a:srgbClr val="1B2A52"/>
                </a:solidFill>
              </a:rPr>
              <a:t>Split: </a:t>
            </a:r>
            <a:r>
              <a:rPr sz="1050" dirty="0">
                <a:solidFill>
                  <a:srgbClr val="222222"/>
                </a:solidFill>
              </a:rPr>
              <a:t>80/20 stratified train/test; test set held out until final evaluation</a:t>
            </a:r>
          </a:p>
          <a:p>
            <a:pPr>
              <a:spcBef>
                <a:spcPts val="700"/>
              </a:spcBef>
            </a:pPr>
            <a:r>
              <a:rPr sz="1050" b="1" dirty="0">
                <a:solidFill>
                  <a:srgbClr val="1B2A52"/>
                </a:solidFill>
              </a:rPr>
              <a:t>CV: </a:t>
            </a:r>
            <a:r>
              <a:rPr sz="1050" dirty="0" err="1">
                <a:solidFill>
                  <a:srgbClr val="222222"/>
                </a:solidFill>
              </a:rPr>
              <a:t>GridSearchCV</a:t>
            </a:r>
            <a:r>
              <a:rPr sz="1050">
                <a:solidFill>
                  <a:srgbClr val="222222"/>
                </a:solidFill>
              </a:rPr>
              <a:t> with cv=</a:t>
            </a:r>
            <a:r>
              <a:rPr lang="en-US" sz="1050">
                <a:solidFill>
                  <a:srgbClr val="222222"/>
                </a:solidFill>
              </a:rPr>
              <a:t>2</a:t>
            </a:r>
            <a:r>
              <a:rPr sz="1050">
                <a:solidFill>
                  <a:srgbClr val="222222"/>
                </a:solidFill>
              </a:rPr>
              <a:t> on training data; metric-specific scoring per problem type</a:t>
            </a:r>
          </a:p>
          <a:p>
            <a:pPr>
              <a:spcBef>
                <a:spcPts val="700"/>
              </a:spcBef>
            </a:pPr>
            <a:r>
              <a:rPr sz="1050" b="1" dirty="0">
                <a:solidFill>
                  <a:srgbClr val="1B2A52"/>
                </a:solidFill>
              </a:rPr>
              <a:t>Imbalance: </a:t>
            </a:r>
            <a:r>
              <a:rPr sz="1050" dirty="0" err="1">
                <a:solidFill>
                  <a:srgbClr val="222222"/>
                </a:solidFill>
              </a:rPr>
              <a:t>class_weight</a:t>
            </a:r>
            <a:r>
              <a:rPr sz="1050" dirty="0">
                <a:solidFill>
                  <a:srgbClr val="222222"/>
                </a:solidFill>
              </a:rPr>
              <a:t>='balanced' for classification tasks (77/23 positive rate)</a:t>
            </a:r>
          </a:p>
          <a:p>
            <a:pPr>
              <a:spcBef>
                <a:spcPts val="700"/>
              </a:spcBef>
            </a:pPr>
            <a:r>
              <a:rPr sz="1050" b="1" dirty="0">
                <a:solidFill>
                  <a:srgbClr val="1B2A52"/>
                </a:solidFill>
              </a:rPr>
              <a:t>Tuning: </a:t>
            </a:r>
            <a:r>
              <a:rPr sz="1050" dirty="0">
                <a:solidFill>
                  <a:srgbClr val="222222"/>
                </a:solidFill>
              </a:rPr>
              <a:t>DT: </a:t>
            </a:r>
            <a:r>
              <a:rPr sz="1050" dirty="0" err="1">
                <a:solidFill>
                  <a:srgbClr val="222222"/>
                </a:solidFill>
              </a:rPr>
              <a:t>max_depth</a:t>
            </a:r>
            <a:r>
              <a:rPr sz="1050" dirty="0">
                <a:solidFill>
                  <a:srgbClr val="222222"/>
                </a:solidFill>
              </a:rPr>
              <a:t> · RF: + </a:t>
            </a:r>
            <a:r>
              <a:rPr sz="1050" dirty="0" err="1">
                <a:solidFill>
                  <a:srgbClr val="222222"/>
                </a:solidFill>
              </a:rPr>
              <a:t>max_features</a:t>
            </a:r>
            <a:r>
              <a:rPr sz="1050" dirty="0">
                <a:solidFill>
                  <a:srgbClr val="222222"/>
                </a:solidFill>
              </a:rPr>
              <a:t>, </a:t>
            </a:r>
            <a:r>
              <a:rPr sz="1050" dirty="0" err="1">
                <a:solidFill>
                  <a:srgbClr val="222222"/>
                </a:solidFill>
              </a:rPr>
              <a:t>min_samples_leaf</a:t>
            </a:r>
            <a:r>
              <a:rPr sz="1050" dirty="0">
                <a:solidFill>
                  <a:srgbClr val="222222"/>
                </a:solidFill>
              </a:rPr>
              <a:t> · GBM/GBR: + subsample, </a:t>
            </a:r>
            <a:r>
              <a:rPr sz="1050" dirty="0" err="1">
                <a:solidFill>
                  <a:srgbClr val="222222"/>
                </a:solidFill>
              </a:rPr>
              <a:t>min_samples_split</a:t>
            </a:r>
            <a:r>
              <a:rPr sz="1050" dirty="0">
                <a:solidFill>
                  <a:srgbClr val="222222"/>
                </a:solidFill>
              </a:rPr>
              <a:t> · Bagging: + </a:t>
            </a:r>
            <a:r>
              <a:rPr sz="1050" dirty="0" err="1">
                <a:solidFill>
                  <a:srgbClr val="222222"/>
                </a:solidFill>
              </a:rPr>
              <a:t>max_samples</a:t>
            </a:r>
            <a:endParaRPr sz="1050" dirty="0">
              <a:solidFill>
                <a:srgbClr val="222222"/>
              </a:solidFill>
            </a:endParaRPr>
          </a:p>
          <a:p>
            <a:pPr>
              <a:spcBef>
                <a:spcPts val="700"/>
              </a:spcBef>
            </a:pPr>
            <a:r>
              <a:rPr sz="1050" b="1" dirty="0">
                <a:solidFill>
                  <a:srgbClr val="1B2A52"/>
                </a:solidFill>
              </a:rPr>
              <a:t>Metrics: </a:t>
            </a:r>
            <a:r>
              <a:rPr sz="1050" dirty="0">
                <a:solidFill>
                  <a:srgbClr val="222222"/>
                </a:solidFill>
              </a:rPr>
              <a:t>Binary: ROC AUC · Multi-class: Macro F1 · Regression: RMSE + R²</a:t>
            </a:r>
          </a:p>
        </p:txBody>
      </p:sp>
      <p:sp>
        <p:nvSpPr>
          <p:cNvPr id="9" name="Rectangle 8"/>
          <p:cNvSpPr/>
          <p:nvPr/>
        </p:nvSpPr>
        <p:spPr>
          <a:xfrm>
            <a:off x="0" y="4681728"/>
            <a:ext cx="9144000" cy="457200"/>
          </a:xfrm>
          <a:prstGeom prst="rect">
            <a:avLst/>
          </a:prstGeom>
          <a:solidFill>
            <a:srgbClr val="1B2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4709160"/>
            <a:ext cx="8412480" cy="365760"/>
          </a:xfrm>
          <a:prstGeom prst="rect">
            <a:avLst/>
          </a:prstGeom>
          <a:noFill/>
        </p:spPr>
        <p:txBody>
          <a:bodyPr wrap="none">
            <a:spAutoFit/>
          </a:bodyPr>
          <a:lstStyle/>
          <a:p>
            <a:pPr algn="ctr"/>
            <a:r>
              <a:rPr sz="1000" i="1">
                <a:solidFill>
                  <a:srgbClr val="FFFFFF"/>
                </a:solidFill>
              </a:rPr>
              <a:t>All models trained on the same 63-feature matrix  ·  same 80/20 split  ·  SEED=42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Binary Classification Results</a:t>
            </a:r>
            <a:endParaRPr lang="en-US" sz="2600" dirty="0"/>
          </a:p>
        </p:txBody>
      </p:sp>
      <p:sp>
        <p:nvSpPr>
          <p:cNvPr id="4" name="Text 2"/>
          <p:cNvSpPr/>
          <p:nvPr/>
        </p:nvSpPr>
        <p:spPr>
          <a:xfrm>
            <a:off x="502920" y="621792"/>
            <a:ext cx="8138160" cy="237744"/>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Target: ALCFLAG — ever used alcohol (yes/no)  ·  class_weight='balanced'</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2415201271"/>
              </p:ext>
            </p:extLst>
          </p:nvPr>
        </p:nvGraphicFramePr>
        <p:xfrm>
          <a:off x="457200" y="1005840"/>
          <a:ext cx="4206240" cy="1536192"/>
        </p:xfrm>
        <a:graphic>
          <a:graphicData uri="http://schemas.openxmlformats.org/drawingml/2006/table">
            <a:tbl>
              <a:tblPr/>
              <a:tblGrid>
                <a:gridCol w="1402080">
                  <a:extLst>
                    <a:ext uri="{9D8B030D-6E8A-4147-A177-3AD203B41FA5}">
                      <a16:colId xmlns:a16="http://schemas.microsoft.com/office/drawing/2014/main" val="20000"/>
                    </a:ext>
                  </a:extLst>
                </a:gridCol>
                <a:gridCol w="1402080">
                  <a:extLst>
                    <a:ext uri="{9D8B030D-6E8A-4147-A177-3AD203B41FA5}">
                      <a16:colId xmlns:a16="http://schemas.microsoft.com/office/drawing/2014/main" val="20001"/>
                    </a:ext>
                  </a:extLst>
                </a:gridCol>
                <a:gridCol w="140208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ROC AUC</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0.743</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0.779</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0.752</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0.795</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AdaBoost</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0.817</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0.788</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457200" y="2926080"/>
            <a:ext cx="4206240" cy="1463040"/>
          </a:xfrm>
          <a:prstGeom prst="rect">
            <a:avLst/>
          </a:prstGeom>
          <a:solidFill>
            <a:srgbClr val="FFF7ED"/>
          </a:solidFill>
          <a:ln w="19050">
            <a:solidFill>
              <a:srgbClr val="E8A838"/>
            </a:solidFill>
            <a:prstDash val="solid"/>
          </a:ln>
        </p:spPr>
        <p:txBody>
          <a:bodyPr/>
          <a:lstStyle/>
          <a:p>
            <a:endParaRPr lang="en-US"/>
          </a:p>
        </p:txBody>
      </p:sp>
      <p:sp>
        <p:nvSpPr>
          <p:cNvPr id="7" name="Text 4"/>
          <p:cNvSpPr/>
          <p:nvPr/>
        </p:nvSpPr>
        <p:spPr>
          <a:xfrm>
            <a:off x="621792" y="2999232"/>
            <a:ext cx="3886200" cy="1325880"/>
          </a:xfrm>
          <a:prstGeom prst="rect">
            <a:avLst/>
          </a:prstGeom>
          <a:noFill/>
          <a:ln/>
        </p:spPr>
        <p:txBody>
          <a:bodyPr wrap="square" rtlCol="0" anchor="ctr"/>
          <a:lstStyle/>
          <a:p>
            <a:pPr marL="0" indent="0">
              <a:buNone/>
            </a:pPr>
            <a:r>
              <a:rPr lang="en-US" sz="1250" b="1" dirty="0">
                <a:solidFill>
                  <a:srgbClr val="2D3142"/>
                </a:solidFill>
                <a:latin typeface="Calibri" pitchFamily="34" charset="0"/>
                <a:ea typeface="Calibri" pitchFamily="34" charset="-122"/>
                <a:cs typeface="Calibri" pitchFamily="34" charset="-120"/>
              </a:rPr>
              <a:t>AdaBoost leads on accuracy (0.817)
</a:t>
            </a:r>
            <a:r>
              <a:rPr lang="en-US" sz="1250" dirty="0">
                <a:solidFill>
                  <a:srgbClr val="2D3142"/>
                </a:solidFill>
                <a:latin typeface="Calibri" pitchFamily="34" charset="0"/>
                <a:ea typeface="Calibri" pitchFamily="34" charset="-122"/>
                <a:cs typeface="Calibri" pitchFamily="34" charset="-120"/>
              </a:rPr>
              <a:t>but Random Forest leads on AUC (0.795)
</a:t>
            </a:r>
            <a:r>
              <a:rPr lang="en-US" sz="1250" b="1" dirty="0">
                <a:solidFill>
                  <a:srgbClr val="1E2761"/>
                </a:solidFill>
                <a:latin typeface="Calibri" pitchFamily="34" charset="0"/>
                <a:ea typeface="Calibri" pitchFamily="34" charset="-122"/>
                <a:cs typeface="Calibri" pitchFamily="34" charset="-120"/>
              </a:rPr>
              <a:t>These measure different things.  See next slide.</a:t>
            </a:r>
            <a:endParaRPr lang="en-US" sz="1250" dirty="0"/>
          </a:p>
        </p:txBody>
      </p:sp>
      <p:sp>
        <p:nvSpPr>
          <p:cNvPr id="8" name="Shape 5"/>
          <p:cNvSpPr/>
          <p:nvPr/>
        </p:nvSpPr>
        <p:spPr>
          <a:xfrm>
            <a:off x="4937760" y="1005840"/>
            <a:ext cx="3749040" cy="3383280"/>
          </a:xfrm>
          <a:prstGeom prst="rect">
            <a:avLst/>
          </a:prstGeom>
          <a:solidFill>
            <a:srgbClr val="EFF6FF"/>
          </a:solidFill>
          <a:ln w="19050">
            <a:solidFill>
              <a:srgbClr val="93C5FD"/>
            </a:solidFill>
            <a:prstDash val="solid"/>
          </a:ln>
          <a:effectLst>
            <a:outerShdw blurRad="63500" dist="25400" dir="8100000" algn="bl" rotWithShape="0">
              <a:srgbClr val="000000">
                <a:alpha val="10000"/>
              </a:srgbClr>
            </a:outerShdw>
          </a:effectLst>
        </p:spPr>
        <p:txBody>
          <a:bodyPr/>
          <a:lstStyle/>
          <a:p>
            <a:endParaRPr lang="en-US"/>
          </a:p>
        </p:txBody>
      </p:sp>
      <p:sp>
        <p:nvSpPr>
          <p:cNvPr id="9" name="Text 6"/>
          <p:cNvSpPr/>
          <p:nvPr/>
        </p:nvSpPr>
        <p:spPr>
          <a:xfrm>
            <a:off x="4937760" y="1005840"/>
            <a:ext cx="3749040" cy="3383280"/>
          </a:xfrm>
          <a:prstGeom prst="rect">
            <a:avLst/>
          </a:prstGeom>
          <a:noFill/>
          <a:ln/>
        </p:spPr>
        <p:txBody>
          <a:bodyPr wrap="square" rtlCol="0" anchor="ctr"/>
          <a:lstStyle/>
          <a:p>
            <a:pPr marL="0" indent="0" algn="ctr">
              <a:buNone/>
            </a:pPr>
            <a:endParaRPr lang="en-US" sz="1000" dirty="0"/>
          </a:p>
          <a:p>
            <a:pPr marL="0" indent="0" algn="ctr">
              <a:buNone/>
            </a:pPr>
            <a:endParaRPr lang="en-US" sz="1000" dirty="0"/>
          </a:p>
          <a:p>
            <a:pPr marL="0" indent="0" algn="ctr">
              <a:buNone/>
            </a:pPr>
            <a:endParaRPr lang="en-US" sz="1000" dirty="0"/>
          </a:p>
          <a:p>
            <a:pPr marL="0" indent="0" algn="ctr">
              <a:buNone/>
            </a:pPr>
            <a:endParaRPr lang="en-US" sz="1000" dirty="0"/>
          </a:p>
        </p:txBody>
      </p:sp>
      <p:pic>
        <p:nvPicPr>
          <p:cNvPr id="11" name="Picture 10">
            <a:extLst>
              <a:ext uri="{FF2B5EF4-FFF2-40B4-BE49-F238E27FC236}">
                <a16:creationId xmlns:a16="http://schemas.microsoft.com/office/drawing/2014/main" id="{9568A9F3-ABB8-1872-DD28-F51822B079A4}"/>
              </a:ext>
            </a:extLst>
          </p:cNvPr>
          <p:cNvPicPr>
            <a:picLocks noChangeAspect="1"/>
          </p:cNvPicPr>
          <p:nvPr/>
        </p:nvPicPr>
        <p:blipFill>
          <a:blip r:embed="rId3"/>
          <a:stretch>
            <a:fillRect/>
          </a:stretch>
        </p:blipFill>
        <p:spPr>
          <a:xfrm>
            <a:off x="4896232" y="649224"/>
            <a:ext cx="3909440" cy="397723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ROC Curves: The Deeper Story</a:t>
            </a:r>
            <a:endParaRPr lang="en-US" sz="2600" dirty="0"/>
          </a:p>
        </p:txBody>
      </p:sp>
      <p:sp>
        <p:nvSpPr>
          <p:cNvPr id="4" name="Text 2"/>
          <p:cNvSpPr/>
          <p:nvPr/>
        </p:nvSpPr>
        <p:spPr>
          <a:xfrm>
            <a:off x="502920" y="621792"/>
            <a:ext cx="8138160" cy="237744"/>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Why accuracy and AUC disagree and which matters more for public health screening</a:t>
            </a:r>
            <a:endParaRPr lang="en-US" sz="1150" dirty="0"/>
          </a:p>
        </p:txBody>
      </p:sp>
      <p:sp>
        <p:nvSpPr>
          <p:cNvPr id="30" name="Shape 28"/>
          <p:cNvSpPr/>
          <p:nvPr/>
        </p:nvSpPr>
        <p:spPr>
          <a:xfrm>
            <a:off x="4389120" y="914400"/>
            <a:ext cx="4434840" cy="1078992"/>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31" name="Shape 29"/>
          <p:cNvSpPr/>
          <p:nvPr/>
        </p:nvSpPr>
        <p:spPr>
          <a:xfrm>
            <a:off x="4389120" y="914400"/>
            <a:ext cx="182880" cy="1078992"/>
          </a:xfrm>
          <a:prstGeom prst="rect">
            <a:avLst/>
          </a:prstGeom>
          <a:solidFill>
            <a:srgbClr val="DC2626"/>
          </a:solidFill>
          <a:ln w="12700">
            <a:solidFill>
              <a:srgbClr val="DC2626"/>
            </a:solidFill>
            <a:prstDash val="solid"/>
          </a:ln>
        </p:spPr>
        <p:txBody>
          <a:bodyPr/>
          <a:lstStyle/>
          <a:p>
            <a:endParaRPr lang="en-US"/>
          </a:p>
        </p:txBody>
      </p:sp>
      <p:sp>
        <p:nvSpPr>
          <p:cNvPr id="32" name="Text 30"/>
          <p:cNvSpPr/>
          <p:nvPr/>
        </p:nvSpPr>
        <p:spPr>
          <a:xfrm>
            <a:off x="4663440" y="987552"/>
            <a:ext cx="4069080" cy="256032"/>
          </a:xfrm>
          <a:prstGeom prst="rect">
            <a:avLst/>
          </a:prstGeom>
          <a:noFill/>
          <a:ln/>
        </p:spPr>
        <p:txBody>
          <a:bodyPr wrap="square" lIns="0" tIns="0" rIns="0" bIns="0" rtlCol="0" anchor="ctr"/>
          <a:lstStyle/>
          <a:p>
            <a:pPr marL="0" indent="0">
              <a:buNone/>
            </a:pPr>
            <a:r>
              <a:rPr lang="en-US" sz="1200" b="1" dirty="0">
                <a:solidFill>
                  <a:srgbClr val="DC2626"/>
                </a:solidFill>
                <a:latin typeface="Georgia" pitchFamily="34" charset="0"/>
                <a:ea typeface="Georgia" pitchFamily="34" charset="-122"/>
                <a:cs typeface="Georgia" pitchFamily="34" charset="-120"/>
              </a:rPr>
              <a:t>Accuracy = single threshold</a:t>
            </a:r>
            <a:endParaRPr lang="en-US" sz="1200" dirty="0"/>
          </a:p>
        </p:txBody>
      </p:sp>
      <p:sp>
        <p:nvSpPr>
          <p:cNvPr id="33" name="Text 31"/>
          <p:cNvSpPr/>
          <p:nvPr/>
        </p:nvSpPr>
        <p:spPr>
          <a:xfrm>
            <a:off x="4663440" y="1280160"/>
            <a:ext cx="4069080" cy="640080"/>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Evaluated at cut-point 0.5. AdaBoost confidently predicts the majority class here, inflating its accuracy score.</a:t>
            </a:r>
            <a:endParaRPr lang="en-US" sz="1050" dirty="0"/>
          </a:p>
        </p:txBody>
      </p:sp>
      <p:sp>
        <p:nvSpPr>
          <p:cNvPr id="34" name="Shape 32"/>
          <p:cNvSpPr/>
          <p:nvPr/>
        </p:nvSpPr>
        <p:spPr>
          <a:xfrm>
            <a:off x="4389120" y="2121408"/>
            <a:ext cx="4434840" cy="1078992"/>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35" name="Shape 33"/>
          <p:cNvSpPr/>
          <p:nvPr/>
        </p:nvSpPr>
        <p:spPr>
          <a:xfrm>
            <a:off x="4389120" y="2121408"/>
            <a:ext cx="182880" cy="1078992"/>
          </a:xfrm>
          <a:prstGeom prst="rect">
            <a:avLst/>
          </a:prstGeom>
          <a:solidFill>
            <a:srgbClr val="0D9488"/>
          </a:solidFill>
          <a:ln w="12700">
            <a:solidFill>
              <a:srgbClr val="0D9488"/>
            </a:solidFill>
            <a:prstDash val="solid"/>
          </a:ln>
        </p:spPr>
        <p:txBody>
          <a:bodyPr/>
          <a:lstStyle/>
          <a:p>
            <a:endParaRPr lang="en-US"/>
          </a:p>
        </p:txBody>
      </p:sp>
      <p:sp>
        <p:nvSpPr>
          <p:cNvPr id="36" name="Text 34"/>
          <p:cNvSpPr/>
          <p:nvPr/>
        </p:nvSpPr>
        <p:spPr>
          <a:xfrm>
            <a:off x="4663440" y="2194560"/>
            <a:ext cx="4069080" cy="256032"/>
          </a:xfrm>
          <a:prstGeom prst="rect">
            <a:avLst/>
          </a:prstGeom>
          <a:noFill/>
          <a:ln/>
        </p:spPr>
        <p:txBody>
          <a:bodyPr wrap="square" lIns="0" tIns="0" rIns="0" bIns="0" rtlCol="0" anchor="ctr"/>
          <a:lstStyle/>
          <a:p>
            <a:pPr marL="0" indent="0">
              <a:buNone/>
            </a:pPr>
            <a:r>
              <a:rPr lang="en-US" sz="1200" b="1" dirty="0">
                <a:solidFill>
                  <a:srgbClr val="0D9488"/>
                </a:solidFill>
                <a:latin typeface="Georgia" pitchFamily="34" charset="0"/>
                <a:ea typeface="Georgia" pitchFamily="34" charset="-122"/>
                <a:cs typeface="Georgia" pitchFamily="34" charset="-120"/>
              </a:rPr>
              <a:t>AUC = threshold-agnostic ranking</a:t>
            </a:r>
            <a:endParaRPr lang="en-US" sz="1200" dirty="0"/>
          </a:p>
        </p:txBody>
      </p:sp>
      <p:sp>
        <p:nvSpPr>
          <p:cNvPr id="37" name="Text 35"/>
          <p:cNvSpPr/>
          <p:nvPr/>
        </p:nvSpPr>
        <p:spPr>
          <a:xfrm>
            <a:off x="4663440" y="2487168"/>
            <a:ext cx="4069080" cy="640080"/>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Measures discriminative power across ALL thresholds. RF's probability estimates are better calibrated over the full range.</a:t>
            </a:r>
            <a:endParaRPr lang="en-US" sz="1050" dirty="0"/>
          </a:p>
        </p:txBody>
      </p:sp>
      <p:sp>
        <p:nvSpPr>
          <p:cNvPr id="38" name="Shape 36"/>
          <p:cNvSpPr/>
          <p:nvPr/>
        </p:nvSpPr>
        <p:spPr>
          <a:xfrm>
            <a:off x="4389120" y="3328416"/>
            <a:ext cx="4434840" cy="1078992"/>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39" name="Shape 37"/>
          <p:cNvSpPr/>
          <p:nvPr/>
        </p:nvSpPr>
        <p:spPr>
          <a:xfrm>
            <a:off x="4389120" y="3328416"/>
            <a:ext cx="182880" cy="1078992"/>
          </a:xfrm>
          <a:prstGeom prst="rect">
            <a:avLst/>
          </a:prstGeom>
          <a:solidFill>
            <a:srgbClr val="1E2761"/>
          </a:solidFill>
          <a:ln w="12700">
            <a:solidFill>
              <a:srgbClr val="1E2761"/>
            </a:solidFill>
            <a:prstDash val="solid"/>
          </a:ln>
        </p:spPr>
        <p:txBody>
          <a:bodyPr/>
          <a:lstStyle/>
          <a:p>
            <a:endParaRPr lang="en-US"/>
          </a:p>
        </p:txBody>
      </p:sp>
      <p:sp>
        <p:nvSpPr>
          <p:cNvPr id="40" name="Text 38"/>
          <p:cNvSpPr/>
          <p:nvPr/>
        </p:nvSpPr>
        <p:spPr>
          <a:xfrm>
            <a:off x="4663440" y="3401568"/>
            <a:ext cx="4069080" cy="256032"/>
          </a:xfrm>
          <a:prstGeom prst="rect">
            <a:avLst/>
          </a:prstGeom>
          <a:noFill/>
          <a:ln/>
        </p:spPr>
        <p:txBody>
          <a:bodyPr wrap="square" lIns="0" tIns="0" rIns="0" bIns="0" rtlCol="0" anchor="ctr"/>
          <a:lstStyle/>
          <a:p>
            <a:pPr marL="0" indent="0">
              <a:buNone/>
            </a:pPr>
            <a:r>
              <a:rPr lang="en-US" sz="1200" b="1" dirty="0">
                <a:solidFill>
                  <a:srgbClr val="1E2761"/>
                </a:solidFill>
                <a:latin typeface="Georgia" pitchFamily="34" charset="0"/>
                <a:ea typeface="Georgia" pitchFamily="34" charset="-122"/>
                <a:cs typeface="Georgia" pitchFamily="34" charset="-120"/>
              </a:rPr>
              <a:t>For screening: AUC &gt; accuracy</a:t>
            </a:r>
            <a:endParaRPr lang="en-US" sz="1200" dirty="0"/>
          </a:p>
        </p:txBody>
      </p:sp>
      <p:sp>
        <p:nvSpPr>
          <p:cNvPr id="41" name="Text 39"/>
          <p:cNvSpPr/>
          <p:nvPr/>
        </p:nvSpPr>
        <p:spPr>
          <a:xfrm>
            <a:off x="4663440" y="3694176"/>
            <a:ext cx="4069080" cy="640080"/>
          </a:xfrm>
          <a:prstGeom prst="rect">
            <a:avLst/>
          </a:prstGeom>
          <a:noFill/>
          <a:ln/>
        </p:spPr>
        <p:txBody>
          <a:bodyPr wrap="square" lIns="0" tIns="0" rIns="0" bIns="0" rtlCol="0" anchor="ctr"/>
          <a:lstStyle/>
          <a:p>
            <a:pPr marL="0" indent="0">
              <a:buNone/>
            </a:pPr>
            <a:r>
              <a:rPr lang="en-US" sz="1050" dirty="0">
                <a:solidFill>
                  <a:srgbClr val="2D3142"/>
                </a:solidFill>
                <a:latin typeface="Calibri" pitchFamily="34" charset="0"/>
                <a:ea typeface="Calibri" pitchFamily="34" charset="-122"/>
                <a:cs typeface="Calibri" pitchFamily="34" charset="-120"/>
              </a:rPr>
              <a:t>In public health you choose the threshold based on intervention costs vs. missed cases. AUC measures your flexibility to do that.</a:t>
            </a:r>
            <a:endParaRPr lang="en-US" sz="1050" dirty="0"/>
          </a:p>
        </p:txBody>
      </p:sp>
      <p:sp>
        <p:nvSpPr>
          <p:cNvPr id="42" name="Text 40"/>
          <p:cNvSpPr/>
          <p:nvPr/>
        </p:nvSpPr>
        <p:spPr>
          <a:xfrm>
            <a:off x="411480" y="4636008"/>
            <a:ext cx="8321040" cy="347472"/>
          </a:xfrm>
          <a:prstGeom prst="rect">
            <a:avLst/>
          </a:prstGeom>
          <a:noFill/>
          <a:ln/>
        </p:spPr>
        <p:txBody>
          <a:bodyPr wrap="square" rtlCol="0" anchor="ctr"/>
          <a:lstStyle/>
          <a:p>
            <a:pPr marL="0" indent="0" algn="ctr">
              <a:buNone/>
            </a:pPr>
            <a:r>
              <a:rPr lang="en-US" sz="1100" i="1" dirty="0">
                <a:solidFill>
                  <a:srgbClr val="1E2761"/>
                </a:solidFill>
                <a:latin typeface="Calibri" pitchFamily="34" charset="0"/>
                <a:ea typeface="Calibri" pitchFamily="34" charset="-122"/>
                <a:cs typeface="Calibri" pitchFamily="34" charset="-120"/>
              </a:rPr>
              <a:t>"Accuracy answers: did it get it right at this threshold?    AUC answers: how good is the ranking across all thresholds?"</a:t>
            </a:r>
            <a:endParaRPr lang="en-US" sz="1100" dirty="0"/>
          </a:p>
        </p:txBody>
      </p:sp>
      <p:pic>
        <p:nvPicPr>
          <p:cNvPr id="43" name="Picture 42">
            <a:extLst>
              <a:ext uri="{FF2B5EF4-FFF2-40B4-BE49-F238E27FC236}">
                <a16:creationId xmlns:a16="http://schemas.microsoft.com/office/drawing/2014/main" id="{9011C952-9783-DB9A-2FCC-4C69B3EEC5A9}"/>
              </a:ext>
            </a:extLst>
          </p:cNvPr>
          <p:cNvPicPr>
            <a:picLocks noChangeAspect="1"/>
          </p:cNvPicPr>
          <p:nvPr/>
        </p:nvPicPr>
        <p:blipFill>
          <a:blip r:embed="rId3"/>
          <a:stretch>
            <a:fillRect/>
          </a:stretch>
        </p:blipFill>
        <p:spPr>
          <a:xfrm>
            <a:off x="502920" y="987552"/>
            <a:ext cx="3481260" cy="35416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Multi-class Classification Results</a:t>
            </a:r>
            <a:endParaRPr lang="en-US" sz="2600" dirty="0"/>
          </a:p>
        </p:txBody>
      </p:sp>
      <p:sp>
        <p:nvSpPr>
          <p:cNvPr id="4" name="Text 2"/>
          <p:cNvSpPr/>
          <p:nvPr/>
        </p:nvSpPr>
        <p:spPr>
          <a:xfrm>
            <a:off x="502920" y="621792"/>
            <a:ext cx="8138160" cy="237744"/>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Target: MRJ3CLASS — marijuana frequency  ·  Never (0) / Occasional (1) / Frequent (2)</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2920269151"/>
              </p:ext>
            </p:extLst>
          </p:nvPr>
        </p:nvGraphicFramePr>
        <p:xfrm>
          <a:off x="457200" y="1005840"/>
          <a:ext cx="4206240" cy="1152144"/>
        </p:xfrm>
        <a:graphic>
          <a:graphicData uri="http://schemas.openxmlformats.org/drawingml/2006/table">
            <a:tbl>
              <a:tblPr/>
              <a:tblGrid>
                <a:gridCol w="1402080">
                  <a:extLst>
                    <a:ext uri="{9D8B030D-6E8A-4147-A177-3AD203B41FA5}">
                      <a16:colId xmlns:a16="http://schemas.microsoft.com/office/drawing/2014/main" val="20000"/>
                    </a:ext>
                  </a:extLst>
                </a:gridCol>
                <a:gridCol w="1402080">
                  <a:extLst>
                    <a:ext uri="{9D8B030D-6E8A-4147-A177-3AD203B41FA5}">
                      <a16:colId xmlns:a16="http://schemas.microsoft.com/office/drawing/2014/main" val="20001"/>
                    </a:ext>
                  </a:extLst>
                </a:gridCol>
                <a:gridCol w="140208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Macro F1</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0.675</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0.452</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0.874</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0.515</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extLst>
                  <a:ext uri="{0D108BD9-81ED-4DB2-BD59-A6C34878D82A}">
                    <a16:rowId xmlns:a16="http://schemas.microsoft.com/office/drawing/2014/main" val="10002"/>
                  </a:ext>
                </a:extLst>
              </a:tr>
            </a:tbl>
          </a:graphicData>
        </a:graphic>
      </p:graphicFrame>
      <p:sp>
        <p:nvSpPr>
          <p:cNvPr id="6" name="Shape 3"/>
          <p:cNvSpPr/>
          <p:nvPr/>
        </p:nvSpPr>
        <p:spPr>
          <a:xfrm>
            <a:off x="457200" y="2487168"/>
            <a:ext cx="4206240" cy="914400"/>
          </a:xfrm>
          <a:prstGeom prst="rect">
            <a:avLst/>
          </a:prstGeom>
          <a:solidFill>
            <a:srgbClr val="F0FDF4"/>
          </a:solidFill>
          <a:ln w="12700">
            <a:solidFill>
              <a:srgbClr val="86EFAC"/>
            </a:solidFill>
            <a:prstDash val="solid"/>
          </a:ln>
        </p:spPr>
        <p:txBody>
          <a:bodyPr/>
          <a:lstStyle/>
          <a:p>
            <a:endParaRPr lang="en-US"/>
          </a:p>
        </p:txBody>
      </p:sp>
      <p:sp>
        <p:nvSpPr>
          <p:cNvPr id="5" name="Text 4"/>
          <p:cNvSpPr/>
          <p:nvPr/>
        </p:nvSpPr>
        <p:spPr>
          <a:xfrm>
            <a:off x="594360" y="2523744"/>
            <a:ext cx="3931920" cy="822960"/>
          </a:xfrm>
          <a:prstGeom prst="rect">
            <a:avLst/>
          </a:prstGeom>
          <a:noFill/>
          <a:ln/>
        </p:spPr>
        <p:txBody>
          <a:bodyPr wrap="square" rtlCol="0" anchor="ctr"/>
          <a:lstStyle/>
          <a:p>
            <a:pPr marL="0" indent="0">
              <a:buNone/>
            </a:pPr>
            <a:r>
              <a:rPr lang="en-US" sz="1150" b="1" dirty="0">
                <a:solidFill>
                  <a:srgbClr val="2D3142"/>
                </a:solidFill>
                <a:latin typeface="Calibri" pitchFamily="34" charset="0"/>
                <a:ea typeface="Calibri" pitchFamily="34" charset="-122"/>
                <a:cs typeface="Calibri" pitchFamily="34" charset="-120"/>
              </a:rPr>
              <a:t>Severe class imbalance:
</a:t>
            </a:r>
            <a:r>
              <a:rPr lang="en-US" sz="1150" dirty="0">
                <a:solidFill>
                  <a:srgbClr val="2D3142"/>
                </a:solidFill>
                <a:latin typeface="Calibri" pitchFamily="34" charset="0"/>
                <a:ea typeface="Calibri" pitchFamily="34" charset="-122"/>
                <a:cs typeface="Calibri" pitchFamily="34" charset="-120"/>
              </a:rPr>
              <a:t>Never: n≈9,226  ·  Occasional: n≈769  ·  Frequent: n≈566</a:t>
            </a:r>
            <a:endParaRPr lang="en-US" sz="1150" dirty="0"/>
          </a:p>
        </p:txBody>
      </p:sp>
      <p:sp>
        <p:nvSpPr>
          <p:cNvPr id="8" name="Shape 5"/>
          <p:cNvSpPr/>
          <p:nvPr/>
        </p:nvSpPr>
        <p:spPr>
          <a:xfrm>
            <a:off x="457200" y="3566160"/>
            <a:ext cx="4206240" cy="914400"/>
          </a:xfrm>
          <a:prstGeom prst="rect">
            <a:avLst/>
          </a:prstGeom>
          <a:solidFill>
            <a:srgbClr val="FEF3C7"/>
          </a:solidFill>
          <a:ln w="12700">
            <a:solidFill>
              <a:srgbClr val="E8A838"/>
            </a:solidFill>
            <a:prstDash val="solid"/>
          </a:ln>
        </p:spPr>
        <p:txBody>
          <a:bodyPr/>
          <a:lstStyle/>
          <a:p>
            <a:endParaRPr lang="en-US"/>
          </a:p>
        </p:txBody>
      </p:sp>
      <p:sp>
        <p:nvSpPr>
          <p:cNvPr id="9" name="Text 6"/>
          <p:cNvSpPr/>
          <p:nvPr/>
        </p:nvSpPr>
        <p:spPr>
          <a:xfrm>
            <a:off x="594360" y="3602736"/>
            <a:ext cx="3931920" cy="822960"/>
          </a:xfrm>
          <a:prstGeom prst="rect">
            <a:avLst/>
          </a:prstGeom>
          <a:noFill/>
          <a:ln/>
        </p:spPr>
        <p:txBody>
          <a:bodyPr wrap="square" rtlCol="0" anchor="ctr"/>
          <a:lstStyle/>
          <a:p>
            <a:pPr marL="0" indent="0">
              <a:buNone/>
            </a:pPr>
            <a:r>
              <a:rPr lang="en-US" sz="1100" dirty="0">
                <a:solidFill>
                  <a:srgbClr val="92400E"/>
                </a:solidFill>
                <a:latin typeface="Calibri" pitchFamily="34" charset="0"/>
                <a:ea typeface="Calibri" pitchFamily="34" charset="-122"/>
                <a:cs typeface="Calibri" pitchFamily="34" charset="-120"/>
              </a:rPr>
              <a:t>Macro F1 used, not weighted or micro, because it treats each class equally regardless of support. Essential when the rare frequent-use class is arguably the most important to detect.</a:t>
            </a:r>
            <a:endParaRPr lang="en-US" sz="1100" dirty="0"/>
          </a:p>
        </p:txBody>
      </p:sp>
      <p:sp>
        <p:nvSpPr>
          <p:cNvPr id="11" name="Text 8"/>
          <p:cNvSpPr/>
          <p:nvPr/>
        </p:nvSpPr>
        <p:spPr>
          <a:xfrm>
            <a:off x="4937760" y="1005840"/>
            <a:ext cx="3749040" cy="3474720"/>
          </a:xfrm>
          <a:prstGeom prst="rect">
            <a:avLst/>
          </a:prstGeom>
          <a:noFill/>
          <a:ln/>
        </p:spPr>
        <p:txBody>
          <a:bodyPr wrap="square" rtlCol="0" anchor="ctr"/>
          <a:lstStyle/>
          <a:p>
            <a:pPr marL="0" indent="0" algn="ctr">
              <a:buNone/>
            </a:pPr>
            <a:endParaRPr lang="en-US" sz="1000" dirty="0"/>
          </a:p>
          <a:p>
            <a:pPr marL="0" indent="0" algn="ctr">
              <a:buNone/>
            </a:pPr>
            <a:endParaRPr lang="en-US" sz="1000" dirty="0"/>
          </a:p>
          <a:p>
            <a:pPr marL="0" indent="0" algn="ctr">
              <a:buNone/>
            </a:pPr>
            <a:endParaRPr lang="en-US" sz="1000" dirty="0"/>
          </a:p>
          <a:p>
            <a:pPr marL="0" indent="0" algn="ctr">
              <a:buNone/>
            </a:pPr>
            <a:endParaRPr lang="en-US" sz="1000" dirty="0"/>
          </a:p>
        </p:txBody>
      </p:sp>
      <p:pic>
        <p:nvPicPr>
          <p:cNvPr id="13" name="Picture 12">
            <a:extLst>
              <a:ext uri="{FF2B5EF4-FFF2-40B4-BE49-F238E27FC236}">
                <a16:creationId xmlns:a16="http://schemas.microsoft.com/office/drawing/2014/main" id="{B3043D9B-54A8-4C39-A574-28528FE9FD6A}"/>
              </a:ext>
            </a:extLst>
          </p:cNvPr>
          <p:cNvPicPr>
            <a:picLocks noChangeAspect="1"/>
          </p:cNvPicPr>
          <p:nvPr/>
        </p:nvPicPr>
        <p:blipFill>
          <a:blip r:embed="rId3"/>
          <a:stretch>
            <a:fillRect/>
          </a:stretch>
        </p:blipFill>
        <p:spPr>
          <a:xfrm>
            <a:off x="4759179" y="1924289"/>
            <a:ext cx="4106202" cy="167844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Regression Results</a:t>
            </a:r>
            <a:endParaRPr lang="en-US" sz="2600" dirty="0"/>
          </a:p>
        </p:txBody>
      </p:sp>
      <p:sp>
        <p:nvSpPr>
          <p:cNvPr id="4" name="Text 2"/>
          <p:cNvSpPr/>
          <p:nvPr/>
        </p:nvSpPr>
        <p:spPr>
          <a:xfrm>
            <a:off x="502920" y="621792"/>
            <a:ext cx="8138160" cy="237744"/>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Target: IRALCFY — alcohol use days per year (0–365)  ·  heavily zero-inflated</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3314343147"/>
              </p:ext>
            </p:extLst>
          </p:nvPr>
        </p:nvGraphicFramePr>
        <p:xfrm>
          <a:off x="457200" y="1005840"/>
          <a:ext cx="4572000" cy="1536192"/>
        </p:xfrm>
        <a:graphic>
          <a:graphicData uri="http://schemas.openxmlformats.org/drawingml/2006/table">
            <a:tbl>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RMSE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R²</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17.73</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6.00</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0.106</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Bagging </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17.59 </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5.97 </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marL="0" indent="0">
                        <a:buNone/>
                      </a:pPr>
                      <a:r>
                        <a:rPr lang="en-US" sz="1200" b="1" dirty="0">
                          <a:solidFill>
                            <a:srgbClr val="0D9488"/>
                          </a:solidFill>
                          <a:latin typeface="Calibri" pitchFamily="34" charset="0"/>
                          <a:ea typeface="Calibri" pitchFamily="34" charset="-122"/>
                          <a:cs typeface="Calibri" pitchFamily="34" charset="-120"/>
                        </a:rPr>
                        <a:t>0.120 </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Grad. Boosting</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18.06</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6.02</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200" dirty="0">
                          <a:solidFill>
                            <a:srgbClr val="2D3142"/>
                          </a:solidFill>
                          <a:latin typeface="Calibri" pitchFamily="34" charset="0"/>
                          <a:ea typeface="Calibri" pitchFamily="34" charset="-122"/>
                          <a:cs typeface="Calibri" pitchFamily="34" charset="-120"/>
                        </a:rPr>
                        <a:t>0.072</a:t>
                      </a:r>
                      <a:endParaRPr lang="en-US" sz="1200" dirty="0">
                        <a:latin typeface="Calibri" charset="0"/>
                        <a:ea typeface="Calibri" charset="0"/>
                        <a:cs typeface="Calibri"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5081666" y="973728"/>
            <a:ext cx="4062334" cy="914400"/>
          </a:xfrm>
          <a:prstGeom prst="rect">
            <a:avLst/>
          </a:prstGeom>
          <a:solidFill>
            <a:srgbClr val="FFF1F2"/>
          </a:solidFill>
          <a:ln w="12700">
            <a:solidFill>
              <a:srgbClr val="FCA5A5"/>
            </a:solidFill>
            <a:prstDash val="solid"/>
          </a:ln>
        </p:spPr>
        <p:txBody>
          <a:bodyPr/>
          <a:lstStyle/>
          <a:p>
            <a:endParaRPr lang="en-US"/>
          </a:p>
        </p:txBody>
      </p:sp>
      <p:sp>
        <p:nvSpPr>
          <p:cNvPr id="7" name="Text 4"/>
          <p:cNvSpPr/>
          <p:nvPr/>
        </p:nvSpPr>
        <p:spPr>
          <a:xfrm>
            <a:off x="5029200" y="877824"/>
            <a:ext cx="4062334" cy="1010304"/>
          </a:xfrm>
          <a:prstGeom prst="rect">
            <a:avLst/>
          </a:prstGeom>
          <a:noFill/>
          <a:ln/>
        </p:spPr>
        <p:txBody>
          <a:bodyPr wrap="square" rtlCol="0" anchor="ctr"/>
          <a:lstStyle/>
          <a:p>
            <a:pPr marL="0" indent="0">
              <a:buNone/>
            </a:pPr>
            <a:r>
              <a:rPr lang="en-US" sz="1100" dirty="0">
                <a:solidFill>
                  <a:srgbClr val="991B1B"/>
                </a:solidFill>
                <a:latin typeface="Calibri" pitchFamily="34" charset="0"/>
                <a:ea typeface="Calibri" pitchFamily="34" charset="-122"/>
                <a:cs typeface="Calibri" pitchFamily="34" charset="-120"/>
              </a:rPr>
              <a:t>Note: Gradient Boosting underperforms Bagging on this task , the opposite of the classification result. This is reported as observed; honest reporting includes results that don't match prior expectations.</a:t>
            </a:r>
            <a:endParaRPr lang="en-US" sz="1100" dirty="0"/>
          </a:p>
        </p:txBody>
      </p:sp>
      <p:sp>
        <p:nvSpPr>
          <p:cNvPr id="5" name="Shape 5"/>
          <p:cNvSpPr/>
          <p:nvPr/>
        </p:nvSpPr>
        <p:spPr>
          <a:xfrm>
            <a:off x="5081666" y="1984032"/>
            <a:ext cx="4062334" cy="914400"/>
          </a:xfrm>
          <a:prstGeom prst="rect">
            <a:avLst/>
          </a:prstGeom>
          <a:solidFill>
            <a:srgbClr val="FFF7ED"/>
          </a:solidFill>
          <a:ln w="12700">
            <a:solidFill>
              <a:srgbClr val="E8A838"/>
            </a:solidFill>
            <a:prstDash val="solid"/>
          </a:ln>
        </p:spPr>
        <p:txBody>
          <a:bodyPr/>
          <a:lstStyle/>
          <a:p>
            <a:endParaRPr lang="en-US"/>
          </a:p>
        </p:txBody>
      </p:sp>
      <p:sp>
        <p:nvSpPr>
          <p:cNvPr id="9" name="Text 6"/>
          <p:cNvSpPr/>
          <p:nvPr/>
        </p:nvSpPr>
        <p:spPr>
          <a:xfrm>
            <a:off x="5188246" y="2020608"/>
            <a:ext cx="3818594" cy="822960"/>
          </a:xfrm>
          <a:prstGeom prst="rect">
            <a:avLst/>
          </a:prstGeom>
          <a:noFill/>
          <a:ln/>
        </p:spPr>
        <p:txBody>
          <a:bodyPr wrap="square" rtlCol="0" anchor="ctr"/>
          <a:lstStyle/>
          <a:p>
            <a:pPr marL="0" indent="0">
              <a:buNone/>
            </a:pPr>
            <a:r>
              <a:rPr lang="en-US" sz="1100" b="1" dirty="0">
                <a:solidFill>
                  <a:srgbClr val="2D3142"/>
                </a:solidFill>
                <a:latin typeface="Calibri" pitchFamily="34" charset="0"/>
                <a:ea typeface="Calibri" pitchFamily="34" charset="-122"/>
                <a:cs typeface="Calibri" pitchFamily="34" charset="-120"/>
              </a:rPr>
              <a:t>R² ≈ 0.07–0.12: is this bad?
</a:t>
            </a:r>
            <a:r>
              <a:rPr lang="en-US" sz="1100" dirty="0">
                <a:solidFill>
                  <a:srgbClr val="2D3142"/>
                </a:solidFill>
                <a:latin typeface="Calibri" pitchFamily="34" charset="0"/>
                <a:ea typeface="Calibri" pitchFamily="34" charset="-122"/>
                <a:cs typeface="Calibri" pitchFamily="34" charset="-120"/>
              </a:rPr>
              <a:t>Expected. IRALCFY is heavily zero-inflated (most youth: 0 days) and self-reported. Models identify real signal, but the distributional difficulty limits R².</a:t>
            </a:r>
            <a:endParaRPr lang="en-US" sz="1100" dirty="0"/>
          </a:p>
        </p:txBody>
      </p:sp>
      <p:pic>
        <p:nvPicPr>
          <p:cNvPr id="13" name="Picture 12">
            <a:extLst>
              <a:ext uri="{FF2B5EF4-FFF2-40B4-BE49-F238E27FC236}">
                <a16:creationId xmlns:a16="http://schemas.microsoft.com/office/drawing/2014/main" id="{E97EF473-1E58-9C30-1DFF-8509669A4A8D}"/>
              </a:ext>
            </a:extLst>
          </p:cNvPr>
          <p:cNvPicPr>
            <a:picLocks noChangeAspect="1"/>
          </p:cNvPicPr>
          <p:nvPr/>
        </p:nvPicPr>
        <p:blipFill>
          <a:blip r:embed="rId3"/>
          <a:stretch>
            <a:fillRect/>
          </a:stretch>
        </p:blipFill>
        <p:spPr>
          <a:xfrm>
            <a:off x="685800" y="2779560"/>
            <a:ext cx="7772400" cy="230840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E639D-E069-63E0-DF51-281C1390365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F174062-F20B-B547-101F-7D461904894B}"/>
              </a:ext>
            </a:extLst>
          </p:cNvPr>
          <p:cNvSpPr/>
          <p:nvPr/>
        </p:nvSpPr>
        <p:spPr>
          <a:xfrm>
            <a:off x="0" y="0"/>
            <a:ext cx="9144000" cy="82296"/>
          </a:xfrm>
          <a:prstGeom prst="rect">
            <a:avLst/>
          </a:prstGeom>
          <a:solidFill>
            <a:srgbClr val="E8A838"/>
          </a:solidFill>
          <a:ln w="12700">
            <a:solidFill>
              <a:srgbClr val="E8A838"/>
            </a:solidFill>
            <a:prstDash val="solid"/>
          </a:ln>
        </p:spPr>
        <p:txBody>
          <a:bodyPr/>
          <a:lstStyle/>
          <a:p>
            <a:endParaRPr lang="en-US"/>
          </a:p>
        </p:txBody>
      </p:sp>
      <p:sp>
        <p:nvSpPr>
          <p:cNvPr id="3" name="Text 1">
            <a:extLst>
              <a:ext uri="{FF2B5EF4-FFF2-40B4-BE49-F238E27FC236}">
                <a16:creationId xmlns:a16="http://schemas.microsoft.com/office/drawing/2014/main" id="{B97CD6E8-C298-0126-4490-A74244733D12}"/>
              </a:ext>
            </a:extLst>
          </p:cNvPr>
          <p:cNvSpPr/>
          <p:nvPr/>
        </p:nvSpPr>
        <p:spPr>
          <a:xfrm>
            <a:off x="502920" y="128016"/>
            <a:ext cx="8138160" cy="475488"/>
          </a:xfrm>
          <a:prstGeom prst="rect">
            <a:avLst/>
          </a:prstGeom>
          <a:noFill/>
          <a:ln/>
        </p:spPr>
        <p:txBody>
          <a:bodyPr wrap="square" lIns="0" tIns="0" rIns="0" bIns="0" rtlCol="0" anchor="ctr"/>
          <a:lstStyle/>
          <a:p>
            <a:pPr marL="0" indent="0">
              <a:buNone/>
            </a:pPr>
            <a:r>
              <a:rPr lang="en-US" sz="2800" b="1" i="0" dirty="0">
                <a:solidFill>
                  <a:srgbClr val="1E2761"/>
                </a:solidFill>
                <a:latin typeface="Georgia" pitchFamily="34" charset="0"/>
                <a:ea typeface="Georgia" pitchFamily="34" charset="-122"/>
                <a:cs typeface="Georgia" pitchFamily="34" charset="-120"/>
              </a:rPr>
              <a:t>Human-Readable Example Tree</a:t>
            </a:r>
            <a:endParaRPr lang="en-US" sz="2600" dirty="0"/>
          </a:p>
        </p:txBody>
      </p:sp>
      <p:sp>
        <p:nvSpPr>
          <p:cNvPr id="4" name="Text 2">
            <a:extLst>
              <a:ext uri="{FF2B5EF4-FFF2-40B4-BE49-F238E27FC236}">
                <a16:creationId xmlns:a16="http://schemas.microsoft.com/office/drawing/2014/main" id="{155DD490-84BA-BAB7-DECA-2E3938A957B1}"/>
              </a:ext>
            </a:extLst>
          </p:cNvPr>
          <p:cNvSpPr/>
          <p:nvPr/>
        </p:nvSpPr>
        <p:spPr>
          <a:xfrm>
            <a:off x="502920" y="621792"/>
            <a:ext cx="8138160" cy="237744"/>
          </a:xfrm>
          <a:prstGeom prst="rect">
            <a:avLst/>
          </a:prstGeom>
          <a:noFill/>
          <a:ln/>
        </p:spPr>
        <p:txBody>
          <a:bodyPr wrap="square" lIns="0" tIns="0" rIns="0" bIns="0" rtlCol="0" anchor="ctr"/>
          <a:lstStyle/>
          <a:p>
            <a:pPr marL="0" indent="0">
              <a:buNone/>
            </a:pPr>
            <a:r>
              <a:rPr lang="en-US" sz="1200" b="0" i="1" dirty="0">
                <a:solidFill>
                  <a:srgbClr val="6B7280"/>
                </a:solidFill>
                <a:latin typeface="Calibri" pitchFamily="34" charset="0"/>
                <a:ea typeface="Calibri" pitchFamily="34" charset="-122"/>
                <a:cs typeface="Calibri" pitchFamily="34" charset="-120"/>
              </a:rPr>
              <a:t>depth=2 · top 5 predictors · class proportions shown · For illustration only (not the evaluation model)</a:t>
            </a:r>
            <a:endParaRPr lang="en-US" sz="1150" dirty="0"/>
          </a:p>
        </p:txBody>
      </p:sp>
      <p:pic>
        <p:nvPicPr>
          <p:cNvPr id="5" name="Picture 4" descr="fig_readable_tree.png"/>
          <p:cNvPicPr>
            <a:picLocks noChangeAspect="1"/>
          </p:cNvPicPr>
          <p:nvPr/>
        </p:nvPicPr>
        <p:blipFill>
          <a:blip r:embed="rId3"/>
          <a:stretch>
            <a:fillRect/>
          </a:stretch>
        </p:blipFill>
        <p:spPr>
          <a:xfrm>
            <a:off x="365760" y="822960"/>
            <a:ext cx="8412480" cy="4114800"/>
          </a:xfrm>
          <a:prstGeom prst="rect">
            <a:avLst/>
          </a:prstGeom>
        </p:spPr>
      </p:pic>
    </p:spTree>
    <p:extLst>
      <p:ext uri="{BB962C8B-B14F-4D97-AF65-F5344CB8AC3E}">
        <p14:creationId xmlns:p14="http://schemas.microsoft.com/office/powerpoint/2010/main" val="1743977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Interpretability: What the Models Tell Us</a:t>
            </a:r>
            <a:endParaRPr lang="en-US" sz="2600" dirty="0"/>
          </a:p>
        </p:txBody>
      </p:sp>
      <p:sp>
        <p:nvSpPr>
          <p:cNvPr id="4" name="Text 2"/>
          <p:cNvSpPr/>
          <p:nvPr/>
        </p:nvSpPr>
        <p:spPr>
          <a:xfrm>
            <a:off x="502920" y="621792"/>
            <a:ext cx="8138160" cy="237744"/>
          </a:xfrm>
          <a:prstGeom prst="rect">
            <a:avLst/>
          </a:prstGeom>
          <a:noFill/>
          <a:ln/>
        </p:spPr>
        <p:txBody>
          <a:bodyPr wrap="square" lIns="0" tIns="0" rIns="0" bIns="0" rtlCol="0" anchor="ctr"/>
          <a:lstStyle/>
          <a:p>
            <a:pPr marL="0" indent="0">
              <a:buNone/>
            </a:pPr>
            <a:r>
              <a:rPr lang="en-US" sz="1100" b="0" i="1" dirty="0">
                <a:solidFill>
                  <a:srgbClr val="6B7280"/>
                </a:solidFill>
                <a:latin typeface="Calibri" pitchFamily="34" charset="0"/>
                <a:ea typeface="Calibri" pitchFamily="34" charset="-122"/>
                <a:cs typeface="Calibri" pitchFamily="34" charset="-120"/>
              </a:rPr>
              <a:t>Tree + importance table  ·  Feature importance by encoding  ·  Interpretation differences</a:t>
            </a:r>
            <a:endParaRPr lang="en-US" sz="1150" dirty="0"/>
          </a:p>
        </p:txBody>
      </p:sp>
      <p:sp>
        <p:nvSpPr>
          <p:cNvPr id="11" name="Shape 9"/>
          <p:cNvSpPr/>
          <p:nvPr/>
        </p:nvSpPr>
        <p:spPr>
          <a:xfrm>
            <a:off x="365760" y="3291840"/>
            <a:ext cx="2743200" cy="155448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12" name="Shape 10"/>
          <p:cNvSpPr/>
          <p:nvPr/>
        </p:nvSpPr>
        <p:spPr>
          <a:xfrm>
            <a:off x="365760" y="3291840"/>
            <a:ext cx="182880" cy="1554480"/>
          </a:xfrm>
          <a:prstGeom prst="rect">
            <a:avLst/>
          </a:prstGeom>
          <a:solidFill>
            <a:srgbClr val="1E2761"/>
          </a:solidFill>
          <a:ln w="12700">
            <a:solidFill>
              <a:srgbClr val="1E2761"/>
            </a:solidFill>
            <a:prstDash val="solid"/>
          </a:ln>
        </p:spPr>
        <p:txBody>
          <a:bodyPr/>
          <a:lstStyle/>
          <a:p>
            <a:endParaRPr lang="en-US"/>
          </a:p>
        </p:txBody>
      </p:sp>
      <p:sp>
        <p:nvSpPr>
          <p:cNvPr id="13" name="Text 11"/>
          <p:cNvSpPr/>
          <p:nvPr/>
        </p:nvSpPr>
        <p:spPr>
          <a:xfrm>
            <a:off x="640080" y="3364992"/>
            <a:ext cx="2377440" cy="347472"/>
          </a:xfrm>
          <a:prstGeom prst="rect">
            <a:avLst/>
          </a:prstGeom>
          <a:noFill/>
          <a:ln/>
        </p:spPr>
        <p:txBody>
          <a:bodyPr wrap="square" lIns="0" tIns="0" rIns="0" bIns="0" rtlCol="0" anchor="ctr"/>
          <a:lstStyle/>
          <a:p>
            <a:pPr marL="0" indent="0">
              <a:buNone/>
            </a:pPr>
            <a:r>
              <a:rPr lang="en-US" sz="1200" b="1" dirty="0">
                <a:solidFill>
                  <a:srgbClr val="1E2761"/>
                </a:solidFill>
                <a:latin typeface="Georgia" pitchFamily="34" charset="0"/>
                <a:ea typeface="Georgia" pitchFamily="34" charset="-122"/>
                <a:cs typeface="Georgia" pitchFamily="34" charset="-120"/>
              </a:rPr>
              <a:t>① Top feature: FRDMJMON</a:t>
            </a:r>
            <a:endParaRPr lang="en-US" sz="1200" dirty="0"/>
          </a:p>
        </p:txBody>
      </p:sp>
      <p:sp>
        <p:nvSpPr>
          <p:cNvPr id="14" name="Text 12"/>
          <p:cNvSpPr/>
          <p:nvPr/>
        </p:nvSpPr>
        <p:spPr>
          <a:xfrm>
            <a:off x="640080" y="3749040"/>
            <a:ext cx="2377440" cy="1005840"/>
          </a:xfrm>
          <a:prstGeom prst="rect">
            <a:avLst/>
          </a:prstGeom>
          <a:noFill/>
          <a:ln/>
        </p:spPr>
        <p:txBody>
          <a:bodyPr wrap="square" lIns="0" tIns="0" rIns="0" bIns="0" rtlCol="0" anchor="ctr"/>
          <a:lstStyle/>
          <a:p>
            <a:r>
              <a:rPr lang="en-US" sz="1100" dirty="0"/>
              <a:t>Friends' monthly MJ use (FRDMJMON) dominates information gain across all three marijuana encoding targets.</a:t>
            </a:r>
            <a:r>
              <a:rPr lang="en-US" sz="1100" dirty="0">
                <a:solidFill>
                  <a:srgbClr val="2D3142"/>
                </a:solidFill>
                <a:latin typeface="Calibri" pitchFamily="34" charset="0"/>
                <a:ea typeface="Calibri" pitchFamily="34" charset="-122"/>
                <a:cs typeface="Calibri" pitchFamily="34" charset="-120"/>
              </a:rPr>
              <a:t>.</a:t>
            </a:r>
            <a:endParaRPr lang="en-US" sz="1100" dirty="0"/>
          </a:p>
        </p:txBody>
      </p:sp>
      <p:sp>
        <p:nvSpPr>
          <p:cNvPr id="15" name="Shape 13"/>
          <p:cNvSpPr/>
          <p:nvPr/>
        </p:nvSpPr>
        <p:spPr>
          <a:xfrm>
            <a:off x="3291840" y="3291840"/>
            <a:ext cx="2743200" cy="155448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16" name="Shape 14"/>
          <p:cNvSpPr/>
          <p:nvPr/>
        </p:nvSpPr>
        <p:spPr>
          <a:xfrm>
            <a:off x="3291840" y="3291840"/>
            <a:ext cx="182880" cy="1554480"/>
          </a:xfrm>
          <a:prstGeom prst="rect">
            <a:avLst/>
          </a:prstGeom>
          <a:solidFill>
            <a:srgbClr val="0D9488"/>
          </a:solidFill>
          <a:ln w="12700">
            <a:solidFill>
              <a:srgbClr val="0D9488"/>
            </a:solidFill>
            <a:prstDash val="solid"/>
          </a:ln>
        </p:spPr>
        <p:txBody>
          <a:bodyPr/>
          <a:lstStyle/>
          <a:p>
            <a:endParaRPr lang="en-US"/>
          </a:p>
        </p:txBody>
      </p:sp>
      <p:sp>
        <p:nvSpPr>
          <p:cNvPr id="17" name="Text 15"/>
          <p:cNvSpPr/>
          <p:nvPr/>
        </p:nvSpPr>
        <p:spPr>
          <a:xfrm>
            <a:off x="3566160" y="3364992"/>
            <a:ext cx="2377440" cy="347472"/>
          </a:xfrm>
          <a:prstGeom prst="rect">
            <a:avLst/>
          </a:prstGeom>
          <a:noFill/>
          <a:ln/>
        </p:spPr>
        <p:txBody>
          <a:bodyPr wrap="square" lIns="0" tIns="0" rIns="0" bIns="0" rtlCol="0" anchor="ctr"/>
          <a:lstStyle/>
          <a:p>
            <a:pPr marL="0" indent="0">
              <a:buNone/>
            </a:pPr>
            <a:r>
              <a:rPr lang="en-US" sz="1200" b="1" dirty="0">
                <a:solidFill>
                  <a:srgbClr val="0D9488"/>
                </a:solidFill>
                <a:latin typeface="Georgia" pitchFamily="34" charset="0"/>
                <a:ea typeface="Georgia" pitchFamily="34" charset="-122"/>
                <a:cs typeface="Georgia" pitchFamily="34" charset="-120"/>
              </a:rPr>
              <a:t>② Parental modeling</a:t>
            </a:r>
            <a:endParaRPr lang="en-US" sz="1200" dirty="0"/>
          </a:p>
        </p:txBody>
      </p:sp>
      <p:sp>
        <p:nvSpPr>
          <p:cNvPr id="18" name="Text 16"/>
          <p:cNvSpPr/>
          <p:nvPr/>
        </p:nvSpPr>
        <p:spPr>
          <a:xfrm>
            <a:off x="3566160" y="3749040"/>
            <a:ext cx="2377440" cy="1005840"/>
          </a:xfrm>
          <a:prstGeom prst="rect">
            <a:avLst/>
          </a:prstGeom>
          <a:noFill/>
          <a:ln/>
        </p:spPr>
        <p:txBody>
          <a:bodyPr wrap="square" lIns="0" tIns="0" rIns="0" bIns="0" rtlCol="0" anchor="ctr"/>
          <a:lstStyle/>
          <a:p>
            <a:pPr marL="0" indent="0">
              <a:buNone/>
            </a:pPr>
            <a:r>
              <a:rPr lang="en-US" sz="1100" dirty="0">
                <a:solidFill>
                  <a:srgbClr val="2D3142"/>
                </a:solidFill>
                <a:latin typeface="Calibri" pitchFamily="34" charset="0"/>
                <a:ea typeface="Calibri" pitchFamily="34" charset="-122"/>
                <a:cs typeface="Calibri" pitchFamily="34" charset="-120"/>
              </a:rPr>
              <a:t>PRALDLY2 / PRMJEVR2 appear in deeper branches, signal remains after peer norms are controlled.</a:t>
            </a:r>
            <a:endParaRPr lang="en-US" sz="1100" dirty="0"/>
          </a:p>
        </p:txBody>
      </p:sp>
      <p:sp>
        <p:nvSpPr>
          <p:cNvPr id="19" name="Shape 17"/>
          <p:cNvSpPr/>
          <p:nvPr/>
        </p:nvSpPr>
        <p:spPr>
          <a:xfrm>
            <a:off x="6217920" y="3291840"/>
            <a:ext cx="2743200" cy="1554480"/>
          </a:xfrm>
          <a:prstGeom prst="rect">
            <a:avLst/>
          </a:prstGeom>
          <a:solidFill>
            <a:srgbClr val="FFFFFF"/>
          </a:solidFill>
          <a:ln w="12700">
            <a:solidFill>
              <a:srgbClr val="E5E7EB"/>
            </a:solidFill>
            <a:prstDash val="solid"/>
          </a:ln>
          <a:effectLst>
            <a:outerShdw blurRad="63500" dist="25400" dir="8100000" algn="bl" rotWithShape="0">
              <a:srgbClr val="000000">
                <a:alpha val="10000"/>
              </a:srgbClr>
            </a:outerShdw>
          </a:effectLst>
        </p:spPr>
        <p:txBody>
          <a:bodyPr/>
          <a:lstStyle/>
          <a:p>
            <a:endParaRPr lang="en-US"/>
          </a:p>
        </p:txBody>
      </p:sp>
      <p:sp>
        <p:nvSpPr>
          <p:cNvPr id="20" name="Shape 18"/>
          <p:cNvSpPr/>
          <p:nvPr/>
        </p:nvSpPr>
        <p:spPr>
          <a:xfrm>
            <a:off x="6217920" y="3291840"/>
            <a:ext cx="182880" cy="1554480"/>
          </a:xfrm>
          <a:prstGeom prst="rect">
            <a:avLst/>
          </a:prstGeom>
          <a:solidFill>
            <a:srgbClr val="7C3AED"/>
          </a:solidFill>
          <a:ln w="12700">
            <a:solidFill>
              <a:srgbClr val="7C3AED"/>
            </a:solidFill>
            <a:prstDash val="solid"/>
          </a:ln>
        </p:spPr>
        <p:txBody>
          <a:bodyPr/>
          <a:lstStyle/>
          <a:p>
            <a:endParaRPr lang="en-US"/>
          </a:p>
        </p:txBody>
      </p:sp>
      <p:sp>
        <p:nvSpPr>
          <p:cNvPr id="21" name="Text 19"/>
          <p:cNvSpPr/>
          <p:nvPr/>
        </p:nvSpPr>
        <p:spPr>
          <a:xfrm>
            <a:off x="6492240" y="3364992"/>
            <a:ext cx="2377440" cy="347472"/>
          </a:xfrm>
          <a:prstGeom prst="rect">
            <a:avLst/>
          </a:prstGeom>
          <a:noFill/>
          <a:ln/>
        </p:spPr>
        <p:txBody>
          <a:bodyPr wrap="square" lIns="0" tIns="0" rIns="0" bIns="0" rtlCol="0" anchor="ctr"/>
          <a:lstStyle/>
          <a:p>
            <a:pPr marL="0" indent="0">
              <a:buNone/>
            </a:pPr>
            <a:r>
              <a:rPr lang="en-US" sz="1200" b="1" i="0" dirty="0">
                <a:solidFill>
                  <a:srgbClr val="7C3AED"/>
                </a:solidFill>
                <a:latin typeface="Georgia" pitchFamily="34" charset="0"/>
                <a:ea typeface="Georgia" pitchFamily="34" charset="-122"/>
                <a:cs typeface="Georgia" pitchFamily="34" charset="-120"/>
              </a:rPr>
              <a:t>③ Encoding: Interpretation</a:t>
            </a:r>
            <a:endParaRPr lang="en-US" sz="1200" dirty="0"/>
          </a:p>
        </p:txBody>
      </p:sp>
      <p:sp>
        <p:nvSpPr>
          <p:cNvPr id="22" name="Text 20"/>
          <p:cNvSpPr/>
          <p:nvPr/>
        </p:nvSpPr>
        <p:spPr>
          <a:xfrm>
            <a:off x="6492240" y="3749040"/>
            <a:ext cx="2377440" cy="1005840"/>
          </a:xfrm>
          <a:prstGeom prst="rect">
            <a:avLst/>
          </a:prstGeom>
          <a:noFill/>
          <a:ln/>
        </p:spPr>
        <p:txBody>
          <a:bodyPr wrap="square" lIns="0" tIns="0" rIns="0" bIns="0" rtlCol="0" anchor="ctr"/>
          <a:lstStyle/>
          <a:p>
            <a:pPr marL="0" indent="0">
              <a:buNone/>
            </a:pPr>
            <a:r>
              <a:rPr lang="en-US" sz="1000" b="0" i="0" dirty="0">
                <a:solidFill>
                  <a:srgbClr val="2D3142"/>
                </a:solidFill>
                <a:latin typeface="Calibri" pitchFamily="34" charset="0"/>
                <a:ea typeface="Calibri" pitchFamily="34" charset="-122"/>
                <a:cs typeface="Calibri" pitchFamily="34" charset="-120"/>
              </a:rPr>
              <a:t>Binary: predicts ever/never - simple but loses frequency information.
Ordinal: distinguishes occasional vs. chronic - policy-relevant.
Numerical: captures dose-response but sensitive to zero-inflation.
Top feature (FRDMJMON) is consistent across all three encodings.</a:t>
            </a:r>
            <a:endParaRPr lang="en-US" sz="1100" dirty="0"/>
          </a:p>
        </p:txBody>
      </p:sp>
      <p:pic>
        <p:nvPicPr>
          <p:cNvPr id="24" name="Picture 23">
            <a:extLst>
              <a:ext uri="{FF2B5EF4-FFF2-40B4-BE49-F238E27FC236}">
                <a16:creationId xmlns:a16="http://schemas.microsoft.com/office/drawing/2014/main" id="{3B43CC4E-C638-7FA2-4D9F-CC5A23E94141}"/>
              </a:ext>
            </a:extLst>
          </p:cNvPr>
          <p:cNvPicPr>
            <a:picLocks noChangeAspect="1"/>
          </p:cNvPicPr>
          <p:nvPr/>
        </p:nvPicPr>
        <p:blipFill>
          <a:blip r:embed="rId3"/>
          <a:stretch>
            <a:fillRect/>
          </a:stretch>
        </p:blipFill>
        <p:spPr>
          <a:xfrm>
            <a:off x="9162" y="1204623"/>
            <a:ext cx="3099798" cy="1384031"/>
          </a:xfrm>
          <a:prstGeom prst="rect">
            <a:avLst/>
          </a:prstGeom>
        </p:spPr>
      </p:pic>
      <p:pic>
        <p:nvPicPr>
          <p:cNvPr id="26" name="Picture 25">
            <a:extLst>
              <a:ext uri="{FF2B5EF4-FFF2-40B4-BE49-F238E27FC236}">
                <a16:creationId xmlns:a16="http://schemas.microsoft.com/office/drawing/2014/main" id="{112F6119-F6D7-B1F2-41A6-F2EA3BE6C6B3}"/>
              </a:ext>
            </a:extLst>
          </p:cNvPr>
          <p:cNvPicPr>
            <a:picLocks noChangeAspect="1"/>
          </p:cNvPicPr>
          <p:nvPr/>
        </p:nvPicPr>
        <p:blipFill>
          <a:blip r:embed="rId4"/>
          <a:stretch>
            <a:fillRect/>
          </a:stretch>
        </p:blipFill>
        <p:spPr>
          <a:xfrm>
            <a:off x="3246120" y="2166398"/>
            <a:ext cx="2834640" cy="1061191"/>
          </a:xfrm>
          <a:prstGeom prst="rect">
            <a:avLst/>
          </a:prstGeom>
        </p:spPr>
      </p:pic>
      <p:pic>
        <p:nvPicPr>
          <p:cNvPr id="27" name="Picture 26" descr="fig_encoding_comparison.png"/>
          <p:cNvPicPr>
            <a:picLocks noChangeAspect="1"/>
          </p:cNvPicPr>
          <p:nvPr/>
        </p:nvPicPr>
        <p:blipFill>
          <a:blip r:embed="rId5"/>
          <a:stretch>
            <a:fillRect/>
          </a:stretch>
        </p:blipFill>
        <p:spPr>
          <a:xfrm>
            <a:off x="4825911" y="822960"/>
            <a:ext cx="4135209" cy="14254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B45309"/>
          </a:solidFill>
          <a:ln w="12700">
            <a:solidFill>
              <a:srgbClr val="B45309"/>
            </a:solidFill>
            <a:prstDash val="solid"/>
          </a:ln>
        </p:spPr>
        <p:txBody>
          <a:bodyPr/>
          <a:lstStyle/>
          <a:p>
            <a:endParaRPr lang="en-US"/>
          </a:p>
        </p:txBody>
      </p:sp>
      <p:sp>
        <p:nvSpPr>
          <p:cNvPr id="3" name="Text 1"/>
          <p:cNvSpPr/>
          <p:nvPr/>
        </p:nvSpPr>
        <p:spPr>
          <a:xfrm>
            <a:off x="502920" y="128016"/>
            <a:ext cx="8138160" cy="475488"/>
          </a:xfrm>
          <a:prstGeom prst="rect">
            <a:avLst/>
          </a:prstGeom>
          <a:noFill/>
          <a:ln/>
        </p:spPr>
        <p:txBody>
          <a:bodyPr wrap="square" lIns="0" tIns="0" rIns="0" bIns="0" rtlCol="0" anchor="ctr"/>
          <a:lstStyle/>
          <a:p>
            <a:pPr marL="0" indent="0">
              <a:buNone/>
            </a:pPr>
            <a:r>
              <a:rPr lang="en-US" sz="2600" b="1" dirty="0">
                <a:solidFill>
                  <a:srgbClr val="1E2761"/>
                </a:solidFill>
                <a:latin typeface="Georgia" pitchFamily="34" charset="0"/>
                <a:ea typeface="Georgia" pitchFamily="34" charset="-122"/>
                <a:cs typeface="Georgia" pitchFamily="34" charset="-120"/>
              </a:rPr>
              <a:t>Discussion, Ethics &amp; Limitations</a:t>
            </a:r>
            <a:endParaRPr lang="en-US" sz="2600" dirty="0"/>
          </a:p>
        </p:txBody>
      </p:sp>
      <p:sp>
        <p:nvSpPr>
          <p:cNvPr id="4" name="Text 2"/>
          <p:cNvSpPr/>
          <p:nvPr/>
        </p:nvSpPr>
        <p:spPr>
          <a:xfrm>
            <a:off x="457200" y="896112"/>
            <a:ext cx="4114800" cy="347472"/>
          </a:xfrm>
          <a:prstGeom prst="rect">
            <a:avLst/>
          </a:prstGeom>
          <a:noFill/>
          <a:ln/>
        </p:spPr>
        <p:txBody>
          <a:bodyPr wrap="square" lIns="0" tIns="0" rIns="0" bIns="0" rtlCol="0" anchor="ctr"/>
          <a:lstStyle/>
          <a:p>
            <a:pPr marL="0" indent="0">
              <a:buNone/>
            </a:pPr>
            <a:r>
              <a:rPr lang="en-US" sz="1600" b="1" dirty="0">
                <a:solidFill>
                  <a:srgbClr val="1E2761"/>
                </a:solidFill>
                <a:latin typeface="Georgia" pitchFamily="34" charset="0"/>
                <a:ea typeface="Georgia" pitchFamily="34" charset="-122"/>
                <a:cs typeface="Georgia" pitchFamily="34" charset="-120"/>
              </a:rPr>
              <a:t>Key Findings</a:t>
            </a:r>
            <a:endParaRPr lang="en-US" sz="1600" dirty="0"/>
          </a:p>
        </p:txBody>
      </p:sp>
      <p:sp>
        <p:nvSpPr>
          <p:cNvPr id="5" name="Text 3"/>
          <p:cNvSpPr/>
          <p:nvPr/>
        </p:nvSpPr>
        <p:spPr>
          <a:xfrm>
            <a:off x="457200" y="1298448"/>
            <a:ext cx="4114800" cy="2606040"/>
          </a:xfrm>
          <a:prstGeom prst="rect">
            <a:avLst/>
          </a:prstGeom>
          <a:noFill/>
          <a:ln/>
        </p:spPr>
        <p:txBody>
          <a:bodyPr wrap="square" rtlCol="0" anchor="ctr"/>
          <a:lstStyle/>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Social norms dominate: STNDALC (peer disapproval) strongest predictor across all tasks</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Permissive attitudes cluster: YFLTMRJ2 (thinks MJ OK) predicts alcohol use, substance attitudes generalize</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Parental modeling (PRALDLY2, PRMJEVR2) has independent signal after peer norms controlled</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Ensembles consistently outperform single trees, variance reduction is the mechanism</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Regression R² low (~0.1), expected given zero-inflation and self-report noise</a:t>
            </a:r>
            <a:endParaRPr lang="en-US" sz="1150" dirty="0"/>
          </a:p>
        </p:txBody>
      </p:sp>
      <p:sp>
        <p:nvSpPr>
          <p:cNvPr id="6" name="Shape 4"/>
          <p:cNvSpPr/>
          <p:nvPr/>
        </p:nvSpPr>
        <p:spPr>
          <a:xfrm>
            <a:off x="4709160" y="868680"/>
            <a:ext cx="0" cy="3017520"/>
          </a:xfrm>
          <a:prstGeom prst="line">
            <a:avLst/>
          </a:prstGeom>
          <a:noFill/>
          <a:ln w="12700">
            <a:solidFill>
              <a:srgbClr val="D1D5DB"/>
            </a:solidFill>
            <a:prstDash val="dash"/>
          </a:ln>
        </p:spPr>
        <p:txBody>
          <a:bodyPr/>
          <a:lstStyle/>
          <a:p>
            <a:endParaRPr lang="en-US"/>
          </a:p>
        </p:txBody>
      </p:sp>
      <p:sp>
        <p:nvSpPr>
          <p:cNvPr id="7" name="Text 5"/>
          <p:cNvSpPr/>
          <p:nvPr/>
        </p:nvSpPr>
        <p:spPr>
          <a:xfrm>
            <a:off x="4892040" y="896112"/>
            <a:ext cx="3931920" cy="347472"/>
          </a:xfrm>
          <a:prstGeom prst="rect">
            <a:avLst/>
          </a:prstGeom>
          <a:noFill/>
          <a:ln/>
        </p:spPr>
        <p:txBody>
          <a:bodyPr wrap="square" lIns="0" tIns="0" rIns="0" bIns="0" rtlCol="0" anchor="ctr"/>
          <a:lstStyle/>
          <a:p>
            <a:pPr marL="0" indent="0">
              <a:buNone/>
            </a:pPr>
            <a:r>
              <a:rPr lang="en-US" sz="1600" b="1" dirty="0">
                <a:solidFill>
                  <a:srgbClr val="DC2626"/>
                </a:solidFill>
                <a:latin typeface="Georgia" pitchFamily="34" charset="0"/>
                <a:ea typeface="Georgia" pitchFamily="34" charset="-122"/>
                <a:cs typeface="Georgia" pitchFamily="34" charset="-120"/>
              </a:rPr>
              <a:t>Limitations &amp; Ethics</a:t>
            </a:r>
            <a:endParaRPr lang="en-US" sz="1600" dirty="0"/>
          </a:p>
        </p:txBody>
      </p:sp>
      <p:sp>
        <p:nvSpPr>
          <p:cNvPr id="8" name="Text 6"/>
          <p:cNvSpPr/>
          <p:nvPr/>
        </p:nvSpPr>
        <p:spPr>
          <a:xfrm>
            <a:off x="4892040" y="1298448"/>
            <a:ext cx="3931920" cy="2606040"/>
          </a:xfrm>
          <a:prstGeom prst="rect">
            <a:avLst/>
          </a:prstGeom>
          <a:noFill/>
          <a:ln/>
        </p:spPr>
        <p:txBody>
          <a:bodyPr wrap="square" rtlCol="0" anchor="ctr"/>
          <a:lstStyle/>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Correlation ≠ causation, feature importance does not imply a causal effect</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Self-report bias: recall and social desirability effects inherent in NSDUH</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Class imbalance limits minority-class precision even with balancing strategies</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Flagging youth based on parental drug use raises serious equity and privacy concerns</a:t>
            </a:r>
            <a:endParaRPr lang="en-US" sz="1150" dirty="0"/>
          </a:p>
          <a:p>
            <a:pPr marL="342900" indent="-342900">
              <a:buSzPct val="100000"/>
              <a:buChar char="•"/>
            </a:pPr>
            <a:r>
              <a:rPr lang="en-US" sz="1150" dirty="0">
                <a:solidFill>
                  <a:srgbClr val="2D3142"/>
                </a:solidFill>
                <a:latin typeface="Calibri" pitchFamily="34" charset="0"/>
                <a:ea typeface="Calibri" pitchFamily="34" charset="-122"/>
                <a:cs typeface="Calibri" pitchFamily="34" charset="-120"/>
              </a:rPr>
              <a:t>Any deployment requires causal analysis, fairness auditing, and community stakeholder review</a:t>
            </a:r>
            <a:endParaRPr lang="en-US" sz="1150" dirty="0"/>
          </a:p>
        </p:txBody>
      </p:sp>
      <p:sp>
        <p:nvSpPr>
          <p:cNvPr id="9" name="Shape 7"/>
          <p:cNvSpPr/>
          <p:nvPr/>
        </p:nvSpPr>
        <p:spPr>
          <a:xfrm>
            <a:off x="411480" y="4370832"/>
            <a:ext cx="8321040" cy="566928"/>
          </a:xfrm>
          <a:prstGeom prst="rect">
            <a:avLst/>
          </a:prstGeom>
          <a:solidFill>
            <a:srgbClr val="1E2761"/>
          </a:solidFill>
          <a:ln w="12700">
            <a:solidFill>
              <a:srgbClr val="1E2761"/>
            </a:solidFill>
            <a:prstDash val="solid"/>
          </a:ln>
        </p:spPr>
        <p:txBody>
          <a:bodyPr/>
          <a:lstStyle/>
          <a:p>
            <a:endParaRPr lang="en-US"/>
          </a:p>
        </p:txBody>
      </p:sp>
      <p:sp>
        <p:nvSpPr>
          <p:cNvPr id="10" name="Text 8"/>
          <p:cNvSpPr/>
          <p:nvPr/>
        </p:nvSpPr>
        <p:spPr>
          <a:xfrm>
            <a:off x="411480" y="4370832"/>
            <a:ext cx="8321040" cy="56692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Public health implication: peer environment and social norms are the strongest modifiable risk factors, not demographics.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4114800" cy="109728"/>
          </a:xfrm>
          <a:prstGeom prst="rect">
            <a:avLst/>
          </a:prstGeom>
          <a:solidFill>
            <a:srgbClr val="E8A838"/>
          </a:solidFill>
          <a:ln w="12700">
            <a:solidFill>
              <a:srgbClr val="E8A838"/>
            </a:solidFill>
            <a:prstDash val="solid"/>
          </a:ln>
        </p:spPr>
        <p:txBody>
          <a:bodyPr/>
          <a:lstStyle/>
          <a:p>
            <a:endParaRPr lang="en-US"/>
          </a:p>
        </p:txBody>
      </p:sp>
      <p:sp>
        <p:nvSpPr>
          <p:cNvPr id="3" name="Text 1"/>
          <p:cNvSpPr/>
          <p:nvPr/>
        </p:nvSpPr>
        <p:spPr>
          <a:xfrm>
            <a:off x="640080" y="594360"/>
            <a:ext cx="7863840" cy="50292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Conclusions</a:t>
            </a:r>
            <a:endParaRPr lang="en-US" sz="3000" dirty="0"/>
          </a:p>
        </p:txBody>
      </p:sp>
      <p:sp>
        <p:nvSpPr>
          <p:cNvPr id="4" name="Text 2"/>
          <p:cNvSpPr/>
          <p:nvPr/>
        </p:nvSpPr>
        <p:spPr>
          <a:xfrm>
            <a:off x="640080" y="1234440"/>
            <a:ext cx="7863840" cy="2651760"/>
          </a:xfrm>
          <a:prstGeom prst="rect">
            <a:avLst/>
          </a:prstGeom>
          <a:noFill/>
          <a:ln/>
        </p:spPr>
        <p:txBody>
          <a:bodyPr wrap="square" rtlCol="0" anchor="ctr"/>
          <a:lstStyle/>
          <a:p>
            <a:pPr marL="342900" indent="-342900">
              <a:buSzPct val="100000"/>
              <a:buChar char="•"/>
            </a:pPr>
            <a:r>
              <a:rPr lang="en-US" sz="1350" dirty="0">
                <a:solidFill>
                  <a:srgbClr val="CADCFC"/>
                </a:solidFill>
                <a:latin typeface="Calibri" pitchFamily="34" charset="0"/>
                <a:ea typeface="Calibri" pitchFamily="34" charset="-122"/>
                <a:cs typeface="Calibri" pitchFamily="34" charset="-120"/>
              </a:rPr>
              <a:t>Tree-based ensembles reliably outperform single decision trees across all three problem types</a:t>
            </a:r>
            <a:endParaRPr lang="en-US" sz="1350" dirty="0"/>
          </a:p>
          <a:p>
            <a:pPr marL="342900" indent="-342900">
              <a:buSzPct val="100000"/>
              <a:buChar char="•"/>
            </a:pPr>
            <a:r>
              <a:rPr lang="en-US" sz="1350" dirty="0">
                <a:solidFill>
                  <a:srgbClr val="CADCFC"/>
                </a:solidFill>
                <a:latin typeface="Calibri" pitchFamily="34" charset="0"/>
                <a:ea typeface="Calibri" pitchFamily="34" charset="-122"/>
                <a:cs typeface="Calibri" pitchFamily="34" charset="-120"/>
              </a:rPr>
              <a:t>AUC is the right metric for binary classification here because operating threshold matters in a screening context</a:t>
            </a:r>
            <a:endParaRPr lang="en-US" sz="1350" dirty="0"/>
          </a:p>
          <a:p>
            <a:pPr marL="342900" indent="-342900">
              <a:buSzPct val="100000"/>
              <a:buChar char="•"/>
            </a:pPr>
            <a:r>
              <a:rPr lang="en-US" sz="1350" dirty="0">
                <a:solidFill>
                  <a:srgbClr val="CADCFC"/>
                </a:solidFill>
                <a:latin typeface="Calibri" pitchFamily="34" charset="0"/>
                <a:ea typeface="Calibri" pitchFamily="34" charset="-122"/>
                <a:cs typeface="Calibri" pitchFamily="34" charset="-120"/>
              </a:rPr>
              <a:t>Bagging, not gradient boosting, produced the best regression performance on this zero-inflated target</a:t>
            </a:r>
            <a:endParaRPr lang="en-US" sz="1350" dirty="0"/>
          </a:p>
          <a:p>
            <a:pPr marL="342900" indent="-342900">
              <a:buSzPct val="100000"/>
              <a:buChar char="•"/>
            </a:pPr>
            <a:r>
              <a:rPr lang="en-US" sz="1350" dirty="0">
                <a:solidFill>
                  <a:srgbClr val="CADCFC"/>
                </a:solidFill>
                <a:latin typeface="Calibri" pitchFamily="34" charset="0"/>
                <a:ea typeface="Calibri" pitchFamily="34" charset="-122"/>
                <a:cs typeface="Calibri" pitchFamily="34" charset="-120"/>
              </a:rPr>
              <a:t>Peer social norms (STNDALC) are the dominant predictor. The findings point toward peer-environment interventions</a:t>
            </a:r>
            <a:endParaRPr lang="en-US" sz="1350" dirty="0"/>
          </a:p>
          <a:p>
            <a:pPr marL="342900" indent="-342900">
              <a:buSzPct val="100000"/>
              <a:buChar char="•"/>
            </a:pPr>
            <a:r>
              <a:rPr lang="en-US" sz="1350" dirty="0">
                <a:solidFill>
                  <a:srgbClr val="CADCFC"/>
                </a:solidFill>
                <a:latin typeface="Calibri" pitchFamily="34" charset="0"/>
                <a:ea typeface="Calibri" pitchFamily="34" charset="-122"/>
                <a:cs typeface="Calibri" pitchFamily="34" charset="-120"/>
              </a:rPr>
              <a:t>All findings are associative, meaning that ethical deployment requires causal analysis, fairness auditing, and stakeholder review</a:t>
            </a:r>
            <a:endParaRPr lang="en-US" sz="1350" dirty="0"/>
          </a:p>
        </p:txBody>
      </p:sp>
      <p:sp>
        <p:nvSpPr>
          <p:cNvPr id="5" name="Shape 3"/>
          <p:cNvSpPr/>
          <p:nvPr/>
        </p:nvSpPr>
        <p:spPr>
          <a:xfrm>
            <a:off x="640080" y="4041648"/>
            <a:ext cx="7863840" cy="658368"/>
          </a:xfrm>
          <a:prstGeom prst="rect">
            <a:avLst/>
          </a:prstGeom>
          <a:solidFill>
            <a:srgbClr val="FFFFFF">
              <a:alpha val="12000"/>
            </a:srgbClr>
          </a:solidFill>
          <a:ln w="12700">
            <a:solidFill>
              <a:srgbClr val="E8A838"/>
            </a:solidFill>
            <a:prstDash val="solid"/>
          </a:ln>
        </p:spPr>
        <p:txBody>
          <a:bodyPr/>
          <a:lstStyle/>
          <a:p>
            <a:endParaRPr lang="en-US"/>
          </a:p>
        </p:txBody>
      </p:sp>
      <p:sp>
        <p:nvSpPr>
          <p:cNvPr id="6" name="Text 4"/>
          <p:cNvSpPr/>
          <p:nvPr/>
        </p:nvSpPr>
        <p:spPr>
          <a:xfrm>
            <a:off x="640080" y="4041648"/>
            <a:ext cx="7863840" cy="658368"/>
          </a:xfrm>
          <a:prstGeom prst="rect">
            <a:avLst/>
          </a:prstGeom>
          <a:solidFill>
            <a:srgbClr val="2A3B6A"/>
          </a:solidFill>
          <a:ln/>
        </p:spPr>
        <p:txBody>
          <a:bodyPr wrap="square" rtlCol="0" anchor="ctr"/>
          <a:lstStyle/>
          <a:p>
            <a:pPr algn="ctr"/>
            <a:r>
              <a:rPr lang="en-US" sz="900" b="1" i="1" dirty="0">
                <a:solidFill>
                  <a:srgbClr val="FFFFCC"/>
                </a:solidFill>
                <a:latin typeface="Calibri" pitchFamily="34" charset="0"/>
                <a:ea typeface="Calibri" pitchFamily="34" charset="-122"/>
                <a:cs typeface="Calibri" pitchFamily="34" charset="-120"/>
              </a:rPr>
              <a:t>References: [1] SAMHSA. NSDUH 2019.  [2] Pedregosa et al. sklearn (JMLR 2011).  [3] Breiman. Random Forests (ML 2001).  [4] Friedman</a:t>
            </a:r>
            <a:r>
              <a:rPr lang="en-US" sz="900" b="1" i="1" dirty="0">
                <a:solidFill>
                  <a:srgbClr val="FFFFCC"/>
                </a:solidFill>
                <a:latin typeface="Calibri" pitchFamily="34" charset="0"/>
                <a:cs typeface="Calibri" pitchFamily="34" charset="-120"/>
              </a:rPr>
              <a:t>. Greedy function approximation: A gradient boosting machine</a:t>
            </a:r>
            <a:r>
              <a:rPr lang="en-US" sz="900" b="1" i="1" dirty="0">
                <a:solidFill>
                  <a:srgbClr val="FFFFCC"/>
                </a:solidFill>
                <a:latin typeface="Calibri" pitchFamily="34" charset="0"/>
                <a:ea typeface="Calibri" pitchFamily="34" charset="-122"/>
                <a:cs typeface="Calibri" pitchFamily="34" charset="-120"/>
              </a:rPr>
              <a:t>(AoS 2001).  [5] Freund &amp; Schapire</a:t>
            </a:r>
            <a:r>
              <a:rPr lang="en-US" sz="900" b="1" i="1" dirty="0">
                <a:solidFill>
                  <a:srgbClr val="FFFFCC"/>
                </a:solidFill>
                <a:latin typeface="Calibri" pitchFamily="34" charset="0"/>
                <a:cs typeface="Calibri" pitchFamily="34" charset="-120"/>
              </a:rPr>
              <a:t>. A decision-theoretic generalization of on-line learning and an application to boosting</a:t>
            </a:r>
            <a:r>
              <a:rPr lang="en-US" sz="900" b="1" i="1" dirty="0">
                <a:solidFill>
                  <a:srgbClr val="FFFFCC"/>
                </a:solidFill>
                <a:latin typeface="Calibri" pitchFamily="34" charset="0"/>
                <a:ea typeface="Calibri" pitchFamily="34" charset="-122"/>
                <a:cs typeface="Calibri" pitchFamily="34" charset="-120"/>
              </a:rPr>
              <a:t> (JCSS 1997).</a:t>
            </a:r>
            <a:endParaRPr lang="en-US" sz="1250" dirty="0"/>
          </a:p>
          <a:p>
            <a:pPr>
              <a:spcBef>
                <a:spcPts val="300"/>
              </a:spcBef>
            </a:pPr>
            <a:r>
              <a:rPr sz="1000" dirty="0">
                <a:solidFill>
                  <a:srgbClr val="FFFFFF"/>
                </a:solidFill>
              </a:rPr>
              <a:t>Notebook + data: https://</a:t>
            </a:r>
            <a:r>
              <a:rPr sz="1000" dirty="0" err="1">
                <a:solidFill>
                  <a:srgbClr val="FFFFFF"/>
                </a:solidFill>
              </a:rPr>
              <a:t>github.com</a:t>
            </a:r>
            <a:r>
              <a:rPr sz="1000" dirty="0">
                <a:solidFill>
                  <a:srgbClr val="FFFFFF"/>
                </a:solidFill>
              </a:rPr>
              <a:t>/</a:t>
            </a:r>
            <a:r>
              <a:rPr sz="1000" dirty="0" err="1">
                <a:solidFill>
                  <a:srgbClr val="FFFFFF"/>
                </a:solidFill>
              </a:rPr>
              <a:t>gpskentzos</a:t>
            </a:r>
            <a:r>
              <a:rPr sz="1000" dirty="0">
                <a:solidFill>
                  <a:srgbClr val="FFFFFF"/>
                </a:solidFill>
              </a:rPr>
              <a:t>/DATA5322-DrugUseAndHealthAnalysis  |  DATA 5322 · Practical Homework 1  |  Paul Skentzos</a:t>
            </a:r>
          </a:p>
        </p:txBody>
      </p:sp>
      <p:sp>
        <p:nvSpPr>
          <p:cNvPr id="7" name="Shape 5"/>
          <p:cNvSpPr/>
          <p:nvPr/>
        </p:nvSpPr>
        <p:spPr>
          <a:xfrm>
            <a:off x="0" y="4869180"/>
            <a:ext cx="9144000" cy="274320"/>
          </a:xfrm>
          <a:prstGeom prst="rect">
            <a:avLst/>
          </a:prstGeom>
          <a:solidFill>
            <a:srgbClr val="E8A838"/>
          </a:solidFill>
          <a:ln w="12700">
            <a:solidFill>
              <a:srgbClr val="E8A838"/>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TotalTime>
  <Words>3072</Words>
  <Application>Microsoft Macintosh PowerPoint</Application>
  <PresentationFormat>On-screen Show (16:9)</PresentationFormat>
  <Paragraphs>182</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Youth Drug Use with Tree-Based Machine Learning</dc:title>
  <dc:subject>PptxGenJS Presentation</dc:subject>
  <dc:creator>Paul Skentzos</dc:creator>
  <cp:lastModifiedBy>Paul Skentzos</cp:lastModifiedBy>
  <cp:revision>24</cp:revision>
  <dcterms:created xsi:type="dcterms:W3CDTF">2026-04-12T17:56:27Z</dcterms:created>
  <dcterms:modified xsi:type="dcterms:W3CDTF">2026-04-19T21:09:15Z</dcterms:modified>
</cp:coreProperties>
</file>